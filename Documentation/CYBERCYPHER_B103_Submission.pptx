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Arcade Gamer" charset="1" panose="00000000000000000000"/>
      <p:regular r:id="rId25"/>
    </p:embeddedFont>
    <p:embeddedFont>
      <p:font typeface="Open Sans" charset="1" panose="00000000000000000000"/>
      <p:regular r:id="rId26"/>
    </p:embeddedFont>
    <p:embeddedFont>
      <p:font typeface="Canva Sans" charset="1" panose="020B0503030501040103"/>
      <p:regular r:id="rId27"/>
    </p:embeddedFont>
    <p:embeddedFont>
      <p:font typeface="Anton" charset="1" panose="000005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11.png" Type="http://schemas.openxmlformats.org/officeDocument/2006/relationships/image"/><Relationship Id="rId15" Target="../media/image12.svg" Type="http://schemas.openxmlformats.org/officeDocument/2006/relationships/image"/><Relationship Id="rId2" Target="../media/image37.png" Type="http://schemas.openxmlformats.org/officeDocument/2006/relationships/image"/><Relationship Id="rId3" Target="../media/image38.sv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2022B"/>
        </a:solidFill>
      </p:bgPr>
    </p:bg>
    <p:spTree>
      <p:nvGrpSpPr>
        <p:cNvPr id="1" name=""/>
        <p:cNvGrpSpPr/>
        <p:nvPr/>
      </p:nvGrpSpPr>
      <p:grpSpPr>
        <a:xfrm>
          <a:off x="0" y="0"/>
          <a:ext cx="0" cy="0"/>
          <a:chOff x="0" y="0"/>
          <a:chExt cx="0" cy="0"/>
        </a:xfrm>
      </p:grpSpPr>
      <p:sp>
        <p:nvSpPr>
          <p:cNvPr name="Freeform 2" id="2"/>
          <p:cNvSpPr/>
          <p:nvPr/>
        </p:nvSpPr>
        <p:spPr>
          <a:xfrm flipH="false" flipV="false" rot="0">
            <a:off x="14483299" y="7687654"/>
            <a:ext cx="2776001" cy="2599346"/>
          </a:xfrm>
          <a:custGeom>
            <a:avLst/>
            <a:gdLst/>
            <a:ahLst/>
            <a:cxnLst/>
            <a:rect r="r" b="b" t="t" l="l"/>
            <a:pathLst>
              <a:path h="2599346" w="2776001">
                <a:moveTo>
                  <a:pt x="0" y="0"/>
                </a:moveTo>
                <a:lnTo>
                  <a:pt x="2776001" y="0"/>
                </a:lnTo>
                <a:lnTo>
                  <a:pt x="2776001" y="2599346"/>
                </a:lnTo>
                <a:lnTo>
                  <a:pt x="0" y="25993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028700" y="7687654"/>
            <a:ext cx="2776001" cy="2599346"/>
          </a:xfrm>
          <a:custGeom>
            <a:avLst/>
            <a:gdLst/>
            <a:ahLst/>
            <a:cxnLst/>
            <a:rect r="r" b="b" t="t" l="l"/>
            <a:pathLst>
              <a:path h="2599346" w="2776001">
                <a:moveTo>
                  <a:pt x="2776001" y="0"/>
                </a:moveTo>
                <a:lnTo>
                  <a:pt x="0" y="0"/>
                </a:lnTo>
                <a:lnTo>
                  <a:pt x="0" y="2599346"/>
                </a:lnTo>
                <a:lnTo>
                  <a:pt x="2776001" y="2599346"/>
                </a:lnTo>
                <a:lnTo>
                  <a:pt x="277600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028251" y="9539425"/>
            <a:ext cx="2569790" cy="747575"/>
          </a:xfrm>
          <a:custGeom>
            <a:avLst/>
            <a:gdLst/>
            <a:ahLst/>
            <a:cxnLst/>
            <a:rect r="r" b="b" t="t" l="l"/>
            <a:pathLst>
              <a:path h="747575" w="2569790">
                <a:moveTo>
                  <a:pt x="0" y="0"/>
                </a:moveTo>
                <a:lnTo>
                  <a:pt x="2569789" y="0"/>
                </a:lnTo>
                <a:lnTo>
                  <a:pt x="2569789" y="747575"/>
                </a:lnTo>
                <a:lnTo>
                  <a:pt x="0" y="7475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9689960" y="9539425"/>
            <a:ext cx="2569790" cy="747575"/>
          </a:xfrm>
          <a:custGeom>
            <a:avLst/>
            <a:gdLst/>
            <a:ahLst/>
            <a:cxnLst/>
            <a:rect r="r" b="b" t="t" l="l"/>
            <a:pathLst>
              <a:path h="747575" w="2569790">
                <a:moveTo>
                  <a:pt x="2569789" y="0"/>
                </a:moveTo>
                <a:lnTo>
                  <a:pt x="0" y="0"/>
                </a:lnTo>
                <a:lnTo>
                  <a:pt x="0" y="747575"/>
                </a:lnTo>
                <a:lnTo>
                  <a:pt x="2569789" y="747575"/>
                </a:lnTo>
                <a:lnTo>
                  <a:pt x="256978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1550892" y="7687654"/>
            <a:ext cx="2599346" cy="2599346"/>
          </a:xfrm>
          <a:custGeom>
            <a:avLst/>
            <a:gdLst/>
            <a:ahLst/>
            <a:cxnLst/>
            <a:rect r="r" b="b" t="t" l="l"/>
            <a:pathLst>
              <a:path h="2599346" w="2599346">
                <a:moveTo>
                  <a:pt x="0" y="0"/>
                </a:moveTo>
                <a:lnTo>
                  <a:pt x="2599346" y="0"/>
                </a:lnTo>
                <a:lnTo>
                  <a:pt x="2599346" y="2599346"/>
                </a:lnTo>
                <a:lnTo>
                  <a:pt x="0" y="25993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false" rot="0">
            <a:off x="4137762" y="7687654"/>
            <a:ext cx="2599346" cy="2599346"/>
          </a:xfrm>
          <a:custGeom>
            <a:avLst/>
            <a:gdLst/>
            <a:ahLst/>
            <a:cxnLst/>
            <a:rect r="r" b="b" t="t" l="l"/>
            <a:pathLst>
              <a:path h="2599346" w="2599346">
                <a:moveTo>
                  <a:pt x="2599346" y="0"/>
                </a:moveTo>
                <a:lnTo>
                  <a:pt x="0" y="0"/>
                </a:lnTo>
                <a:lnTo>
                  <a:pt x="0" y="2599346"/>
                </a:lnTo>
                <a:lnTo>
                  <a:pt x="2599346" y="2599346"/>
                </a:lnTo>
                <a:lnTo>
                  <a:pt x="2599346"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83296" y="6172200"/>
            <a:ext cx="845404" cy="4114800"/>
          </a:xfrm>
          <a:custGeom>
            <a:avLst/>
            <a:gdLst/>
            <a:ahLst/>
            <a:cxnLst/>
            <a:rect r="r" b="b" t="t" l="l"/>
            <a:pathLst>
              <a:path h="4114800" w="845404">
                <a:moveTo>
                  <a:pt x="0" y="0"/>
                </a:moveTo>
                <a:lnTo>
                  <a:pt x="845404" y="0"/>
                </a:lnTo>
                <a:lnTo>
                  <a:pt x="845404"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true" flipV="false" rot="0">
            <a:off x="17259300" y="6172200"/>
            <a:ext cx="845404" cy="4114800"/>
          </a:xfrm>
          <a:custGeom>
            <a:avLst/>
            <a:gdLst/>
            <a:ahLst/>
            <a:cxnLst/>
            <a:rect r="r" b="b" t="t" l="l"/>
            <a:pathLst>
              <a:path h="4114800" w="845404">
                <a:moveTo>
                  <a:pt x="845404" y="0"/>
                </a:moveTo>
                <a:lnTo>
                  <a:pt x="0" y="0"/>
                </a:lnTo>
                <a:lnTo>
                  <a:pt x="0" y="4114800"/>
                </a:lnTo>
                <a:lnTo>
                  <a:pt x="845404" y="4114800"/>
                </a:lnTo>
                <a:lnTo>
                  <a:pt x="845404"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8217623" y="9407784"/>
            <a:ext cx="1852754" cy="879216"/>
          </a:xfrm>
          <a:custGeom>
            <a:avLst/>
            <a:gdLst/>
            <a:ahLst/>
            <a:cxnLst/>
            <a:rect r="r" b="b" t="t" l="l"/>
            <a:pathLst>
              <a:path h="879216" w="1852754">
                <a:moveTo>
                  <a:pt x="0" y="0"/>
                </a:moveTo>
                <a:lnTo>
                  <a:pt x="1852754" y="0"/>
                </a:lnTo>
                <a:lnTo>
                  <a:pt x="1852754" y="879216"/>
                </a:lnTo>
                <a:lnTo>
                  <a:pt x="0" y="87921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5542069" y="9629372"/>
            <a:ext cx="1826745" cy="657628"/>
          </a:xfrm>
          <a:custGeom>
            <a:avLst/>
            <a:gdLst/>
            <a:ahLst/>
            <a:cxnLst/>
            <a:rect r="r" b="b" t="t" l="l"/>
            <a:pathLst>
              <a:path h="657628" w="1826745">
                <a:moveTo>
                  <a:pt x="0" y="0"/>
                </a:moveTo>
                <a:lnTo>
                  <a:pt x="1826746" y="0"/>
                </a:lnTo>
                <a:lnTo>
                  <a:pt x="1826746" y="657628"/>
                </a:lnTo>
                <a:lnTo>
                  <a:pt x="0" y="65762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1870875" y="9420673"/>
            <a:ext cx="2268953" cy="866327"/>
          </a:xfrm>
          <a:custGeom>
            <a:avLst/>
            <a:gdLst/>
            <a:ahLst/>
            <a:cxnLst/>
            <a:rect r="r" b="b" t="t" l="l"/>
            <a:pathLst>
              <a:path h="866327" w="2268953">
                <a:moveTo>
                  <a:pt x="0" y="0"/>
                </a:moveTo>
                <a:lnTo>
                  <a:pt x="2268953" y="0"/>
                </a:lnTo>
                <a:lnTo>
                  <a:pt x="2268953" y="866327"/>
                </a:lnTo>
                <a:lnTo>
                  <a:pt x="0" y="86632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true" flipV="false" rot="0">
            <a:off x="10919185" y="9629372"/>
            <a:ext cx="1826745" cy="657628"/>
          </a:xfrm>
          <a:custGeom>
            <a:avLst/>
            <a:gdLst/>
            <a:ahLst/>
            <a:cxnLst/>
            <a:rect r="r" b="b" t="t" l="l"/>
            <a:pathLst>
              <a:path h="657628" w="1826745">
                <a:moveTo>
                  <a:pt x="1826746" y="0"/>
                </a:moveTo>
                <a:lnTo>
                  <a:pt x="0" y="0"/>
                </a:lnTo>
                <a:lnTo>
                  <a:pt x="0" y="657628"/>
                </a:lnTo>
                <a:lnTo>
                  <a:pt x="1826746" y="657628"/>
                </a:lnTo>
                <a:lnTo>
                  <a:pt x="1826746"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true" flipV="false" rot="0">
            <a:off x="14148172" y="9407784"/>
            <a:ext cx="2268953" cy="866327"/>
          </a:xfrm>
          <a:custGeom>
            <a:avLst/>
            <a:gdLst/>
            <a:ahLst/>
            <a:cxnLst/>
            <a:rect r="r" b="b" t="t" l="l"/>
            <a:pathLst>
              <a:path h="866327" w="2268953">
                <a:moveTo>
                  <a:pt x="2268953" y="0"/>
                </a:moveTo>
                <a:lnTo>
                  <a:pt x="0" y="0"/>
                </a:lnTo>
                <a:lnTo>
                  <a:pt x="0" y="866328"/>
                </a:lnTo>
                <a:lnTo>
                  <a:pt x="2268953" y="866328"/>
                </a:lnTo>
                <a:lnTo>
                  <a:pt x="2268953"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5" id="15"/>
          <p:cNvSpPr txBox="true"/>
          <p:nvPr/>
        </p:nvSpPr>
        <p:spPr>
          <a:xfrm rot="0">
            <a:off x="1966874" y="2004789"/>
            <a:ext cx="14354252" cy="3717289"/>
          </a:xfrm>
          <a:prstGeom prst="rect">
            <a:avLst/>
          </a:prstGeom>
        </p:spPr>
        <p:txBody>
          <a:bodyPr anchor="t" rtlCol="false" tIns="0" lIns="0" bIns="0" rIns="0">
            <a:spAutoFit/>
          </a:bodyPr>
          <a:lstStyle/>
          <a:p>
            <a:pPr algn="ctr">
              <a:lnSpc>
                <a:spcPts val="14560"/>
              </a:lnSpc>
              <a:spcBef>
                <a:spcPct val="0"/>
              </a:spcBef>
            </a:pPr>
            <a:r>
              <a:rPr lang="en-US" sz="10400">
                <a:solidFill>
                  <a:srgbClr val="FFFFFF"/>
                </a:solidFill>
                <a:latin typeface="Arcade Gamer"/>
                <a:ea typeface="Arcade Gamer"/>
                <a:cs typeface="Arcade Gamer"/>
                <a:sym typeface="Arcade Gamer"/>
              </a:rPr>
              <a:t>CYBER-CYPHER 5.0</a:t>
            </a:r>
          </a:p>
        </p:txBody>
      </p:sp>
      <p:sp>
        <p:nvSpPr>
          <p:cNvPr name="Freeform 16" id="16"/>
          <p:cNvSpPr/>
          <p:nvPr/>
        </p:nvSpPr>
        <p:spPr>
          <a:xfrm flipH="true" flipV="false" rot="0">
            <a:off x="1028700" y="1425427"/>
            <a:ext cx="2359993" cy="823852"/>
          </a:xfrm>
          <a:custGeom>
            <a:avLst/>
            <a:gdLst/>
            <a:ahLst/>
            <a:cxnLst/>
            <a:rect r="r" b="b" t="t" l="l"/>
            <a:pathLst>
              <a:path h="823852" w="2359993">
                <a:moveTo>
                  <a:pt x="2359993" y="0"/>
                </a:moveTo>
                <a:lnTo>
                  <a:pt x="0" y="0"/>
                </a:lnTo>
                <a:lnTo>
                  <a:pt x="0" y="823852"/>
                </a:lnTo>
                <a:lnTo>
                  <a:pt x="2359993" y="823852"/>
                </a:lnTo>
                <a:lnTo>
                  <a:pt x="2359993"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7" id="17"/>
          <p:cNvSpPr txBox="true"/>
          <p:nvPr/>
        </p:nvSpPr>
        <p:spPr>
          <a:xfrm rot="0">
            <a:off x="7034317" y="6105525"/>
            <a:ext cx="4219365" cy="624593"/>
          </a:xfrm>
          <a:prstGeom prst="rect">
            <a:avLst/>
          </a:prstGeom>
        </p:spPr>
        <p:txBody>
          <a:bodyPr anchor="t" rtlCol="false" tIns="0" lIns="0" bIns="0" rIns="0">
            <a:spAutoFit/>
          </a:bodyPr>
          <a:lstStyle/>
          <a:p>
            <a:pPr algn="ctr">
              <a:lnSpc>
                <a:spcPts val="5147"/>
              </a:lnSpc>
              <a:spcBef>
                <a:spcPct val="0"/>
              </a:spcBef>
            </a:pPr>
            <a:r>
              <a:rPr lang="en-US" sz="3676">
                <a:solidFill>
                  <a:srgbClr val="FFFFFF"/>
                </a:solidFill>
                <a:latin typeface="Open Sans"/>
                <a:ea typeface="Open Sans"/>
                <a:cs typeface="Open Sans"/>
                <a:sym typeface="Open Sans"/>
              </a:rPr>
              <a:t>TEAM - B103</a:t>
            </a:r>
          </a:p>
        </p:txBody>
      </p:sp>
      <p:sp>
        <p:nvSpPr>
          <p:cNvPr name="Freeform 18" id="18"/>
          <p:cNvSpPr/>
          <p:nvPr/>
        </p:nvSpPr>
        <p:spPr>
          <a:xfrm flipH="true" flipV="false" rot="0">
            <a:off x="14546157" y="631973"/>
            <a:ext cx="4453058" cy="793454"/>
          </a:xfrm>
          <a:custGeom>
            <a:avLst/>
            <a:gdLst/>
            <a:ahLst/>
            <a:cxnLst/>
            <a:rect r="r" b="b" t="t" l="l"/>
            <a:pathLst>
              <a:path h="793454" w="4453058">
                <a:moveTo>
                  <a:pt x="4453058" y="0"/>
                </a:moveTo>
                <a:lnTo>
                  <a:pt x="0" y="0"/>
                </a:lnTo>
                <a:lnTo>
                  <a:pt x="0" y="793454"/>
                </a:lnTo>
                <a:lnTo>
                  <a:pt x="4453058" y="793454"/>
                </a:lnTo>
                <a:lnTo>
                  <a:pt x="4453058"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9" id="1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2022B"/>
        </a:solidFill>
      </p:bgPr>
    </p:bg>
    <p:spTree>
      <p:nvGrpSpPr>
        <p:cNvPr id="1" name=""/>
        <p:cNvGrpSpPr/>
        <p:nvPr/>
      </p:nvGrpSpPr>
      <p:grpSpPr>
        <a:xfrm>
          <a:off x="0" y="0"/>
          <a:ext cx="0" cy="0"/>
          <a:chOff x="0" y="0"/>
          <a:chExt cx="0" cy="0"/>
        </a:xfrm>
      </p:grpSpPr>
      <p:sp>
        <p:nvSpPr>
          <p:cNvPr name="Freeform 2" id="2"/>
          <p:cNvSpPr/>
          <p:nvPr/>
        </p:nvSpPr>
        <p:spPr>
          <a:xfrm flipH="true" flipV="false" rot="0">
            <a:off x="16681517" y="409711"/>
            <a:ext cx="2359993" cy="823852"/>
          </a:xfrm>
          <a:custGeom>
            <a:avLst/>
            <a:gdLst/>
            <a:ahLst/>
            <a:cxnLst/>
            <a:rect r="r" b="b" t="t" l="l"/>
            <a:pathLst>
              <a:path h="823852" w="2359993">
                <a:moveTo>
                  <a:pt x="2359993" y="0"/>
                </a:moveTo>
                <a:lnTo>
                  <a:pt x="0" y="0"/>
                </a:lnTo>
                <a:lnTo>
                  <a:pt x="0" y="823852"/>
                </a:lnTo>
                <a:lnTo>
                  <a:pt x="2359993" y="823852"/>
                </a:lnTo>
                <a:lnTo>
                  <a:pt x="235999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5333" y="562555"/>
            <a:ext cx="2908065" cy="518164"/>
          </a:xfrm>
          <a:custGeom>
            <a:avLst/>
            <a:gdLst/>
            <a:ahLst/>
            <a:cxnLst/>
            <a:rect r="r" b="b" t="t" l="l"/>
            <a:pathLst>
              <a:path h="518164" w="2908065">
                <a:moveTo>
                  <a:pt x="0" y="0"/>
                </a:moveTo>
                <a:lnTo>
                  <a:pt x="2908066" y="0"/>
                </a:lnTo>
                <a:lnTo>
                  <a:pt x="2908066" y="518164"/>
                </a:lnTo>
                <a:lnTo>
                  <a:pt x="0" y="5181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55350" y="9136318"/>
            <a:ext cx="3196339" cy="1150682"/>
          </a:xfrm>
          <a:custGeom>
            <a:avLst/>
            <a:gdLst/>
            <a:ahLst/>
            <a:cxnLst/>
            <a:rect r="r" b="b" t="t" l="l"/>
            <a:pathLst>
              <a:path h="1150682" w="3196339">
                <a:moveTo>
                  <a:pt x="0" y="0"/>
                </a:moveTo>
                <a:lnTo>
                  <a:pt x="3196338" y="0"/>
                </a:lnTo>
                <a:lnTo>
                  <a:pt x="3196338" y="1150682"/>
                </a:lnTo>
                <a:lnTo>
                  <a:pt x="0" y="11506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7178608" y="701751"/>
            <a:ext cx="3930784" cy="911224"/>
          </a:xfrm>
          <a:prstGeom prst="rect">
            <a:avLst/>
          </a:prstGeom>
        </p:spPr>
        <p:txBody>
          <a:bodyPr anchor="t" rtlCol="false" tIns="0" lIns="0" bIns="0" rIns="0">
            <a:spAutoFit/>
          </a:bodyPr>
          <a:lstStyle/>
          <a:p>
            <a:pPr algn="l">
              <a:lnSpc>
                <a:spcPts val="7000"/>
              </a:lnSpc>
              <a:spcBef>
                <a:spcPct val="0"/>
              </a:spcBef>
            </a:pPr>
            <a:r>
              <a:rPr lang="en-US" sz="5000">
                <a:solidFill>
                  <a:srgbClr val="FFFFFF"/>
                </a:solidFill>
                <a:latin typeface="Arcade Gamer"/>
                <a:ea typeface="Arcade Gamer"/>
                <a:cs typeface="Arcade Gamer"/>
                <a:sym typeface="Arcade Gamer"/>
              </a:rPr>
              <a:t>CONTENT</a:t>
            </a:r>
          </a:p>
        </p:txBody>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2</a:t>
            </a:r>
          </a:p>
        </p:txBody>
      </p:sp>
      <p:grpSp>
        <p:nvGrpSpPr>
          <p:cNvPr name="Group 7" id="7"/>
          <p:cNvGrpSpPr/>
          <p:nvPr/>
        </p:nvGrpSpPr>
        <p:grpSpPr>
          <a:xfrm rot="0">
            <a:off x="5597787" y="3083678"/>
            <a:ext cx="6873895" cy="5996812"/>
            <a:chOff x="0" y="0"/>
            <a:chExt cx="9165193" cy="7995750"/>
          </a:xfrm>
        </p:grpSpPr>
        <p:sp>
          <p:nvSpPr>
            <p:cNvPr name="TextBox 8" id="8"/>
            <p:cNvSpPr txBox="true"/>
            <p:nvPr/>
          </p:nvSpPr>
          <p:spPr>
            <a:xfrm rot="0">
              <a:off x="0" y="-66675"/>
              <a:ext cx="8534711" cy="8062425"/>
            </a:xfrm>
            <a:prstGeom prst="rect">
              <a:avLst/>
            </a:prstGeom>
          </p:spPr>
          <p:txBody>
            <a:bodyPr anchor="t" rtlCol="false" tIns="0" lIns="0" bIns="0" rIns="0">
              <a:spAutoFit/>
            </a:bodyPr>
            <a:lstStyle/>
            <a:p>
              <a:pPr algn="l">
                <a:lnSpc>
                  <a:spcPts val="4417"/>
                </a:lnSpc>
              </a:pPr>
              <a:r>
                <a:rPr lang="en-US" sz="3155">
                  <a:solidFill>
                    <a:srgbClr val="FFFFFF"/>
                  </a:solidFill>
                  <a:latin typeface="Anton"/>
                  <a:ea typeface="Anton"/>
                  <a:cs typeface="Anton"/>
                  <a:sym typeface="Anton"/>
                </a:rPr>
                <a:t>Problem Statement ..............................</a:t>
              </a:r>
            </a:p>
            <a:p>
              <a:pPr algn="l">
                <a:lnSpc>
                  <a:spcPts val="4417"/>
                </a:lnSpc>
              </a:pPr>
              <a:r>
                <a:rPr lang="en-US" sz="3155">
                  <a:solidFill>
                    <a:srgbClr val="FFFFFF"/>
                  </a:solidFill>
                  <a:latin typeface="Anton"/>
                  <a:ea typeface="Anton"/>
                  <a:cs typeface="Anton"/>
                  <a:sym typeface="Anton"/>
                </a:rPr>
                <a:t>What our Agent Does ...........................</a:t>
              </a:r>
            </a:p>
            <a:p>
              <a:pPr algn="l">
                <a:lnSpc>
                  <a:spcPts val="4417"/>
                </a:lnSpc>
              </a:pPr>
              <a:r>
                <a:rPr lang="en-US" sz="3155">
                  <a:solidFill>
                    <a:srgbClr val="FFFFFF"/>
                  </a:solidFill>
                  <a:latin typeface="Anton"/>
                  <a:ea typeface="Anton"/>
                  <a:cs typeface="Anton"/>
                  <a:sym typeface="Anton"/>
                </a:rPr>
                <a:t>How the Agent thinks ..........................</a:t>
              </a:r>
            </a:p>
            <a:p>
              <a:pPr algn="l">
                <a:lnSpc>
                  <a:spcPts val="4417"/>
                </a:lnSpc>
              </a:pPr>
              <a:r>
                <a:rPr lang="en-US" sz="3155">
                  <a:solidFill>
                    <a:srgbClr val="FFFFFF"/>
                  </a:solidFill>
                  <a:latin typeface="Anton"/>
                  <a:ea typeface="Anton"/>
                  <a:cs typeface="Anton"/>
                  <a:sym typeface="Anton"/>
                </a:rPr>
                <a:t>System Block Diagram ........................</a:t>
              </a:r>
            </a:p>
            <a:p>
              <a:pPr algn="l">
                <a:lnSpc>
                  <a:spcPts val="4417"/>
                </a:lnSpc>
              </a:pPr>
              <a:r>
                <a:rPr lang="en-US" sz="3155">
                  <a:solidFill>
                    <a:srgbClr val="FFFFFF"/>
                  </a:solidFill>
                  <a:latin typeface="Anton"/>
                  <a:ea typeface="Anton"/>
                  <a:cs typeface="Anton"/>
                  <a:sym typeface="Anton"/>
                </a:rPr>
                <a:t>Ticket Processing Flow .......................</a:t>
              </a:r>
            </a:p>
            <a:p>
              <a:pPr algn="l">
                <a:lnSpc>
                  <a:spcPts val="4417"/>
                </a:lnSpc>
              </a:pPr>
              <a:r>
                <a:rPr lang="en-US" sz="3155">
                  <a:solidFill>
                    <a:srgbClr val="FFFFFF"/>
                  </a:solidFill>
                  <a:latin typeface="Anton"/>
                  <a:ea typeface="Anton"/>
                  <a:cs typeface="Anton"/>
                  <a:sym typeface="Anton"/>
                </a:rPr>
                <a:t>System Structure .................................</a:t>
              </a:r>
            </a:p>
            <a:p>
              <a:pPr algn="l">
                <a:lnSpc>
                  <a:spcPts val="4417"/>
                </a:lnSpc>
              </a:pPr>
              <a:r>
                <a:rPr lang="en-US" sz="3155">
                  <a:solidFill>
                    <a:srgbClr val="FFFFFF"/>
                  </a:solidFill>
                  <a:latin typeface="Anton"/>
                  <a:ea typeface="Anton"/>
                  <a:cs typeface="Anton"/>
                  <a:sym typeface="Anton"/>
                </a:rPr>
                <a:t>Real-Time Interaction &amp; Event Flow ...</a:t>
              </a:r>
            </a:p>
            <a:p>
              <a:pPr algn="l">
                <a:lnSpc>
                  <a:spcPts val="4417"/>
                </a:lnSpc>
              </a:pPr>
              <a:r>
                <a:rPr lang="en-US" sz="3155">
                  <a:solidFill>
                    <a:srgbClr val="FFFFFF"/>
                  </a:solidFill>
                  <a:latin typeface="Anton"/>
                  <a:ea typeface="Anton"/>
                  <a:cs typeface="Anton"/>
                  <a:sym typeface="Anton"/>
                </a:rPr>
                <a:t>Performance and Efficiency ...............</a:t>
              </a:r>
            </a:p>
            <a:p>
              <a:pPr algn="l">
                <a:lnSpc>
                  <a:spcPts val="4417"/>
                </a:lnSpc>
              </a:pPr>
              <a:r>
                <a:rPr lang="en-US" sz="3155">
                  <a:solidFill>
                    <a:srgbClr val="FFFFFF"/>
                  </a:solidFill>
                  <a:latin typeface="Anton"/>
                  <a:ea typeface="Anton"/>
                  <a:cs typeface="Anton"/>
                  <a:sym typeface="Anton"/>
                </a:rPr>
                <a:t>Built to Work in Reality ........................</a:t>
              </a:r>
            </a:p>
            <a:p>
              <a:pPr algn="l">
                <a:lnSpc>
                  <a:spcPts val="4417"/>
                </a:lnSpc>
              </a:pPr>
              <a:r>
                <a:rPr lang="en-US" sz="3155">
                  <a:solidFill>
                    <a:srgbClr val="FFFFFF"/>
                  </a:solidFill>
                  <a:latin typeface="Anton"/>
                  <a:ea typeface="Anton"/>
                  <a:cs typeface="Anton"/>
                  <a:sym typeface="Anton"/>
                </a:rPr>
                <a:t>Learning and Improvement ................</a:t>
              </a:r>
            </a:p>
            <a:p>
              <a:pPr algn="l">
                <a:lnSpc>
                  <a:spcPts val="4417"/>
                </a:lnSpc>
              </a:pPr>
              <a:r>
                <a:rPr lang="en-US" sz="3155">
                  <a:solidFill>
                    <a:srgbClr val="FFFFFF"/>
                  </a:solidFill>
                  <a:latin typeface="Anton"/>
                  <a:ea typeface="Anton"/>
                  <a:cs typeface="Anton"/>
                  <a:sym typeface="Anton"/>
                </a:rPr>
                <a:t>Developer Dashboard ..........................</a:t>
              </a:r>
            </a:p>
          </p:txBody>
        </p:sp>
        <p:sp>
          <p:nvSpPr>
            <p:cNvPr name="TextBox 9" id="9"/>
            <p:cNvSpPr txBox="true"/>
            <p:nvPr/>
          </p:nvSpPr>
          <p:spPr>
            <a:xfrm rot="0">
              <a:off x="7904228" y="-66675"/>
              <a:ext cx="1260965" cy="8062425"/>
            </a:xfrm>
            <a:prstGeom prst="rect">
              <a:avLst/>
            </a:prstGeom>
          </p:spPr>
          <p:txBody>
            <a:bodyPr anchor="t" rtlCol="false" tIns="0" lIns="0" bIns="0" rIns="0">
              <a:spAutoFit/>
            </a:bodyPr>
            <a:lstStyle/>
            <a:p>
              <a:pPr algn="ctr">
                <a:lnSpc>
                  <a:spcPts val="4417"/>
                </a:lnSpc>
              </a:pPr>
              <a:r>
                <a:rPr lang="en-US" sz="3155">
                  <a:solidFill>
                    <a:srgbClr val="FFFFFF"/>
                  </a:solidFill>
                  <a:latin typeface="Anton"/>
                  <a:ea typeface="Anton"/>
                  <a:cs typeface="Anton"/>
                  <a:sym typeface="Anton"/>
                </a:rPr>
                <a:t>3</a:t>
              </a:r>
            </a:p>
            <a:p>
              <a:pPr algn="ctr">
                <a:lnSpc>
                  <a:spcPts val="4417"/>
                </a:lnSpc>
              </a:pPr>
              <a:r>
                <a:rPr lang="en-US" sz="3155">
                  <a:solidFill>
                    <a:srgbClr val="FFFFFF"/>
                  </a:solidFill>
                  <a:latin typeface="Anton"/>
                  <a:ea typeface="Anton"/>
                  <a:cs typeface="Anton"/>
                  <a:sym typeface="Anton"/>
                </a:rPr>
                <a:t>4</a:t>
              </a:r>
            </a:p>
            <a:p>
              <a:pPr algn="ctr">
                <a:lnSpc>
                  <a:spcPts val="4417"/>
                </a:lnSpc>
              </a:pPr>
              <a:r>
                <a:rPr lang="en-US" sz="3155">
                  <a:solidFill>
                    <a:srgbClr val="FFFFFF"/>
                  </a:solidFill>
                  <a:latin typeface="Anton"/>
                  <a:ea typeface="Anton"/>
                  <a:cs typeface="Anton"/>
                  <a:sym typeface="Anton"/>
                </a:rPr>
                <a:t>5</a:t>
              </a:r>
            </a:p>
            <a:p>
              <a:pPr algn="ctr">
                <a:lnSpc>
                  <a:spcPts val="4417"/>
                </a:lnSpc>
              </a:pPr>
              <a:r>
                <a:rPr lang="en-US" sz="3155">
                  <a:solidFill>
                    <a:srgbClr val="FFFFFF"/>
                  </a:solidFill>
                  <a:latin typeface="Anton"/>
                  <a:ea typeface="Anton"/>
                  <a:cs typeface="Anton"/>
                  <a:sym typeface="Anton"/>
                </a:rPr>
                <a:t>6-7</a:t>
              </a:r>
            </a:p>
            <a:p>
              <a:pPr algn="ctr">
                <a:lnSpc>
                  <a:spcPts val="4417"/>
                </a:lnSpc>
              </a:pPr>
              <a:r>
                <a:rPr lang="en-US" sz="3155">
                  <a:solidFill>
                    <a:srgbClr val="FFFFFF"/>
                  </a:solidFill>
                  <a:latin typeface="Anton"/>
                  <a:ea typeface="Anton"/>
                  <a:cs typeface="Anton"/>
                  <a:sym typeface="Anton"/>
                </a:rPr>
                <a:t>8</a:t>
              </a:r>
            </a:p>
            <a:p>
              <a:pPr algn="ctr">
                <a:lnSpc>
                  <a:spcPts val="4417"/>
                </a:lnSpc>
              </a:pPr>
              <a:r>
                <a:rPr lang="en-US" sz="3155">
                  <a:solidFill>
                    <a:srgbClr val="FFFFFF"/>
                  </a:solidFill>
                  <a:latin typeface="Anton"/>
                  <a:ea typeface="Anton"/>
                  <a:cs typeface="Anton"/>
                  <a:sym typeface="Anton"/>
                </a:rPr>
                <a:t>9-10</a:t>
              </a:r>
            </a:p>
            <a:p>
              <a:pPr algn="ctr">
                <a:lnSpc>
                  <a:spcPts val="4417"/>
                </a:lnSpc>
              </a:pPr>
              <a:r>
                <a:rPr lang="en-US" sz="3155">
                  <a:solidFill>
                    <a:srgbClr val="FFFFFF"/>
                  </a:solidFill>
                  <a:latin typeface="Anton"/>
                  <a:ea typeface="Anton"/>
                  <a:cs typeface="Anton"/>
                  <a:sym typeface="Anton"/>
                </a:rPr>
                <a:t>11</a:t>
              </a:r>
            </a:p>
            <a:p>
              <a:pPr algn="ctr">
                <a:lnSpc>
                  <a:spcPts val="4417"/>
                </a:lnSpc>
              </a:pPr>
              <a:r>
                <a:rPr lang="en-US" sz="3155">
                  <a:solidFill>
                    <a:srgbClr val="FFFFFF"/>
                  </a:solidFill>
                  <a:latin typeface="Anton"/>
                  <a:ea typeface="Anton"/>
                  <a:cs typeface="Anton"/>
                  <a:sym typeface="Anton"/>
                </a:rPr>
                <a:t>12</a:t>
              </a:r>
            </a:p>
            <a:p>
              <a:pPr algn="ctr">
                <a:lnSpc>
                  <a:spcPts val="4417"/>
                </a:lnSpc>
              </a:pPr>
              <a:r>
                <a:rPr lang="en-US" sz="3155">
                  <a:solidFill>
                    <a:srgbClr val="FFFFFF"/>
                  </a:solidFill>
                  <a:latin typeface="Anton"/>
                  <a:ea typeface="Anton"/>
                  <a:cs typeface="Anton"/>
                  <a:sym typeface="Anton"/>
                </a:rPr>
                <a:t>13</a:t>
              </a:r>
            </a:p>
            <a:p>
              <a:pPr algn="ctr">
                <a:lnSpc>
                  <a:spcPts val="4417"/>
                </a:lnSpc>
              </a:pPr>
              <a:r>
                <a:rPr lang="en-US" sz="3155">
                  <a:solidFill>
                    <a:srgbClr val="FFFFFF"/>
                  </a:solidFill>
                  <a:latin typeface="Anton"/>
                  <a:ea typeface="Anton"/>
                  <a:cs typeface="Anton"/>
                  <a:sym typeface="Anton"/>
                </a:rPr>
                <a:t>14</a:t>
              </a:r>
            </a:p>
            <a:p>
              <a:pPr algn="ctr">
                <a:lnSpc>
                  <a:spcPts val="4417"/>
                </a:lnSpc>
              </a:pPr>
              <a:r>
                <a:rPr lang="en-US" sz="3155">
                  <a:solidFill>
                    <a:srgbClr val="FFFFFF"/>
                  </a:solidFill>
                  <a:latin typeface="Anton"/>
                  <a:ea typeface="Anton"/>
                  <a:cs typeface="Anton"/>
                  <a:sym typeface="Anton"/>
                </a:rPr>
                <a:t>15-18</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2022B"/>
        </a:solidFill>
      </p:bgPr>
    </p:bg>
    <p:spTree>
      <p:nvGrpSpPr>
        <p:cNvPr id="1" name=""/>
        <p:cNvGrpSpPr/>
        <p:nvPr/>
      </p:nvGrpSpPr>
      <p:grpSpPr>
        <a:xfrm>
          <a:off x="0" y="0"/>
          <a:ext cx="0" cy="0"/>
          <a:chOff x="0" y="0"/>
          <a:chExt cx="0" cy="0"/>
        </a:xfrm>
      </p:grpSpPr>
      <p:grpSp>
        <p:nvGrpSpPr>
          <p:cNvPr name="Group 2" id="2"/>
          <p:cNvGrpSpPr/>
          <p:nvPr/>
        </p:nvGrpSpPr>
        <p:grpSpPr>
          <a:xfrm rot="0">
            <a:off x="14324586" y="4629410"/>
            <a:ext cx="3775529" cy="5658150"/>
            <a:chOff x="0" y="0"/>
            <a:chExt cx="5034039" cy="7544200"/>
          </a:xfrm>
        </p:grpSpPr>
        <p:sp>
          <p:nvSpPr>
            <p:cNvPr name="Freeform 3" id="3"/>
            <p:cNvSpPr/>
            <p:nvPr/>
          </p:nvSpPr>
          <p:spPr>
            <a:xfrm flipH="true" flipV="false" rot="0">
              <a:off x="0" y="0"/>
              <a:ext cx="5034039" cy="7544200"/>
            </a:xfrm>
            <a:custGeom>
              <a:avLst/>
              <a:gdLst/>
              <a:ahLst/>
              <a:cxnLst/>
              <a:rect r="r" b="b" t="t" l="l"/>
              <a:pathLst>
                <a:path h="7544200" w="5034039">
                  <a:moveTo>
                    <a:pt x="5034039" y="0"/>
                  </a:moveTo>
                  <a:lnTo>
                    <a:pt x="0" y="0"/>
                  </a:lnTo>
                  <a:lnTo>
                    <a:pt x="0" y="7544200"/>
                  </a:lnTo>
                  <a:lnTo>
                    <a:pt x="5034039" y="7544200"/>
                  </a:lnTo>
                  <a:lnTo>
                    <a:pt x="503403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756640" y="2736897"/>
              <a:ext cx="2700411" cy="4806556"/>
            </a:xfrm>
            <a:custGeom>
              <a:avLst/>
              <a:gdLst/>
              <a:ahLst/>
              <a:cxnLst/>
              <a:rect r="r" b="b" t="t" l="l"/>
              <a:pathLst>
                <a:path h="4806556" w="2700411">
                  <a:moveTo>
                    <a:pt x="0" y="0"/>
                  </a:moveTo>
                  <a:lnTo>
                    <a:pt x="2700411" y="0"/>
                  </a:lnTo>
                  <a:lnTo>
                    <a:pt x="2700411" y="4806556"/>
                  </a:lnTo>
                  <a:lnTo>
                    <a:pt x="0" y="48065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5" id="5"/>
          <p:cNvSpPr txBox="true"/>
          <p:nvPr/>
        </p:nvSpPr>
        <p:spPr>
          <a:xfrm rot="0">
            <a:off x="4123414" y="117476"/>
            <a:ext cx="10308030" cy="911224"/>
          </a:xfrm>
          <a:prstGeom prst="rect">
            <a:avLst/>
          </a:prstGeom>
        </p:spPr>
        <p:txBody>
          <a:bodyPr anchor="t" rtlCol="false" tIns="0" lIns="0" bIns="0" rIns="0">
            <a:spAutoFit/>
          </a:bodyPr>
          <a:lstStyle/>
          <a:p>
            <a:pPr algn="l">
              <a:lnSpc>
                <a:spcPts val="7000"/>
              </a:lnSpc>
              <a:spcBef>
                <a:spcPct val="0"/>
              </a:spcBef>
            </a:pPr>
            <a:r>
              <a:rPr lang="en-US" sz="5000">
                <a:solidFill>
                  <a:srgbClr val="FFFFFF"/>
                </a:solidFill>
                <a:latin typeface="Arcade Gamer"/>
                <a:ea typeface="Arcade Gamer"/>
                <a:cs typeface="Arcade Gamer"/>
                <a:sym typeface="Arcade Gamer"/>
              </a:rPr>
              <a:t>PROBLEM STATEMENT- 1</a:t>
            </a:r>
          </a:p>
        </p:txBody>
      </p:sp>
      <p:sp>
        <p:nvSpPr>
          <p:cNvPr name="Freeform 6" id="6"/>
          <p:cNvSpPr/>
          <p:nvPr/>
        </p:nvSpPr>
        <p:spPr>
          <a:xfrm flipH="true" flipV="false" rot="0">
            <a:off x="15517068" y="269876"/>
            <a:ext cx="2359993" cy="823852"/>
          </a:xfrm>
          <a:custGeom>
            <a:avLst/>
            <a:gdLst/>
            <a:ahLst/>
            <a:cxnLst/>
            <a:rect r="r" b="b" t="t" l="l"/>
            <a:pathLst>
              <a:path h="823852" w="2359993">
                <a:moveTo>
                  <a:pt x="2359994" y="0"/>
                </a:moveTo>
                <a:lnTo>
                  <a:pt x="0" y="0"/>
                </a:lnTo>
                <a:lnTo>
                  <a:pt x="0" y="823852"/>
                </a:lnTo>
                <a:lnTo>
                  <a:pt x="2359994" y="823852"/>
                </a:lnTo>
                <a:lnTo>
                  <a:pt x="235999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425333" y="562555"/>
            <a:ext cx="2908065" cy="518164"/>
          </a:xfrm>
          <a:custGeom>
            <a:avLst/>
            <a:gdLst/>
            <a:ahLst/>
            <a:cxnLst/>
            <a:rect r="r" b="b" t="t" l="l"/>
            <a:pathLst>
              <a:path h="518164" w="2908065">
                <a:moveTo>
                  <a:pt x="0" y="0"/>
                </a:moveTo>
                <a:lnTo>
                  <a:pt x="2908066" y="0"/>
                </a:lnTo>
                <a:lnTo>
                  <a:pt x="2908066" y="518164"/>
                </a:lnTo>
                <a:lnTo>
                  <a:pt x="0" y="5181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false" rot="0">
            <a:off x="15254875" y="2273541"/>
            <a:ext cx="1914952" cy="341210"/>
          </a:xfrm>
          <a:custGeom>
            <a:avLst/>
            <a:gdLst/>
            <a:ahLst/>
            <a:cxnLst/>
            <a:rect r="r" b="b" t="t" l="l"/>
            <a:pathLst>
              <a:path h="341210" w="1914952">
                <a:moveTo>
                  <a:pt x="1914951" y="0"/>
                </a:moveTo>
                <a:lnTo>
                  <a:pt x="0" y="0"/>
                </a:lnTo>
                <a:lnTo>
                  <a:pt x="0" y="341209"/>
                </a:lnTo>
                <a:lnTo>
                  <a:pt x="1914951" y="341209"/>
                </a:lnTo>
                <a:lnTo>
                  <a:pt x="1914951"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626210" y="3064983"/>
            <a:ext cx="13698376" cy="6309360"/>
          </a:xfrm>
          <a:prstGeom prst="rect">
            <a:avLst/>
          </a:prstGeom>
        </p:spPr>
        <p:txBody>
          <a:bodyPr anchor="t" rtlCol="false" tIns="0" lIns="0" bIns="0" rIns="0">
            <a:spAutoFit/>
          </a:bodyPr>
          <a:lstStyle/>
          <a:p>
            <a:pPr algn="l">
              <a:lnSpc>
                <a:spcPts val="2939"/>
              </a:lnSpc>
              <a:spcBef>
                <a:spcPct val="0"/>
              </a:spcBef>
            </a:pPr>
            <a:r>
              <a:rPr lang="en-US" sz="2099" spc="62">
                <a:solidFill>
                  <a:srgbClr val="FFFFFF"/>
                </a:solidFill>
                <a:latin typeface="Anton"/>
                <a:ea typeface="Anton"/>
                <a:cs typeface="Anton"/>
                <a:sym typeface="Anton"/>
              </a:rPr>
              <a:t>Design an agentic AI system that acts as a self-healing support layer for a SaaS platform undergoing a hosted-to-headless migration. The agent's role is not just to answer tickets, but to observe signals across the system, reason about root causes, and coordinate action across support, product, and engineering before issues escalate.</a:t>
            </a:r>
          </a:p>
          <a:p>
            <a:pPr algn="l">
              <a:lnSpc>
                <a:spcPts val="2939"/>
              </a:lnSpc>
              <a:spcBef>
                <a:spcPct val="0"/>
              </a:spcBef>
            </a:pPr>
          </a:p>
          <a:p>
            <a:pPr algn="l">
              <a:lnSpc>
                <a:spcPts val="2939"/>
              </a:lnSpc>
              <a:spcBef>
                <a:spcPct val="0"/>
              </a:spcBef>
            </a:pPr>
            <a:r>
              <a:rPr lang="en-US" sz="2099" spc="62">
                <a:solidFill>
                  <a:srgbClr val="FFFFFF"/>
                </a:solidFill>
                <a:latin typeface="Anton"/>
                <a:ea typeface="Anton"/>
                <a:cs typeface="Anton"/>
                <a:sym typeface="Anton"/>
              </a:rPr>
              <a:t>At a minimum, your system should demonstrate a clear agent loop:</a:t>
            </a:r>
          </a:p>
          <a:p>
            <a:pPr algn="l" marL="453387" indent="-226693" lvl="1">
              <a:lnSpc>
                <a:spcPts val="2939"/>
              </a:lnSpc>
              <a:buFont typeface="Arial"/>
              <a:buChar char="•"/>
            </a:pPr>
            <a:r>
              <a:rPr lang="en-US" sz="2099" spc="62">
                <a:solidFill>
                  <a:srgbClr val="FFFFFF"/>
                </a:solidFill>
                <a:latin typeface="Anton"/>
                <a:ea typeface="Anton"/>
                <a:cs typeface="Anton"/>
                <a:sym typeface="Anton"/>
              </a:rPr>
              <a:t>Observe: Ingest signals such as incoming support tickets, repeated merchant errors, failed checkouts, API/webhook failures, migration stage data, or abnormal behavior patterns</a:t>
            </a:r>
          </a:p>
          <a:p>
            <a:pPr algn="l" marL="453387" indent="-226693" lvl="1">
              <a:lnSpc>
                <a:spcPts val="2939"/>
              </a:lnSpc>
              <a:buFont typeface="Arial"/>
              <a:buChar char="•"/>
            </a:pPr>
            <a:r>
              <a:rPr lang="en-US" sz="2099" spc="62">
                <a:solidFill>
                  <a:srgbClr val="FFFFFF"/>
                </a:solidFill>
                <a:latin typeface="Anton"/>
                <a:ea typeface="Anton"/>
                <a:cs typeface="Anton"/>
                <a:sym typeface="Anton"/>
              </a:rPr>
              <a:t>Reason: Identify whether issues stem from migration missteps, platform regressions, documentation gaps, or merchant configuration errors</a:t>
            </a:r>
          </a:p>
          <a:p>
            <a:pPr algn="l" marL="453387" indent="-226693" lvl="1">
              <a:lnSpc>
                <a:spcPts val="2939"/>
              </a:lnSpc>
              <a:buFont typeface="Arial"/>
              <a:buChar char="•"/>
            </a:pPr>
            <a:r>
              <a:rPr lang="en-US" sz="2099" spc="62">
                <a:solidFill>
                  <a:srgbClr val="FFFFFF"/>
                </a:solidFill>
                <a:latin typeface="Anton"/>
                <a:ea typeface="Anton"/>
                <a:cs typeface="Anton"/>
                <a:sym typeface="Anton"/>
              </a:rPr>
              <a:t>Decide: Determine appropriate actions support guidance, proactive merchant communication, escalation to engineering, temporary mitigations, or documentation updates</a:t>
            </a:r>
          </a:p>
          <a:p>
            <a:pPr algn="l" marL="453387" indent="-226693" lvl="1">
              <a:lnSpc>
                <a:spcPts val="2939"/>
              </a:lnSpc>
              <a:buFont typeface="Arial"/>
              <a:buChar char="•"/>
            </a:pPr>
            <a:r>
              <a:rPr lang="en-US" sz="2099" spc="62">
                <a:solidFill>
                  <a:srgbClr val="FFFFFF"/>
                </a:solidFill>
                <a:latin typeface="Anton"/>
                <a:ea typeface="Anton"/>
                <a:cs typeface="Anton"/>
                <a:sym typeface="Anton"/>
              </a:rPr>
              <a:t>Act (with boundaries): Execute or recommend actions with clear confidence levels, risk assessment, and human approval where required</a:t>
            </a:r>
          </a:p>
          <a:p>
            <a:pPr algn="l">
              <a:lnSpc>
                <a:spcPts val="2939"/>
              </a:lnSpc>
              <a:spcBef>
                <a:spcPct val="0"/>
              </a:spcBef>
            </a:pPr>
            <a:r>
              <a:rPr lang="en-US" sz="2099" spc="62">
                <a:solidFill>
                  <a:srgbClr val="FFFFFF"/>
                </a:solidFill>
                <a:latin typeface="Anton"/>
                <a:ea typeface="Anton"/>
                <a:cs typeface="Anton"/>
                <a:sym typeface="Anton"/>
              </a:rPr>
              <a:t>Crucially, the agent must be explainable and controllable. You are required to design an interface that allows humans to understand what the agent believes is happening, why it believes so, what actions it proposes, and what impact those actions might have. The system should clearly show uncertainty, assumptions, and ethical limits especially when money, live checkouts, or merchant trust are involved.</a:t>
            </a:r>
          </a:p>
        </p:txBody>
      </p:sp>
      <p:sp>
        <p:nvSpPr>
          <p:cNvPr name="TextBox 10" id="10"/>
          <p:cNvSpPr txBox="true"/>
          <p:nvPr/>
        </p:nvSpPr>
        <p:spPr>
          <a:xfrm rot="0">
            <a:off x="1415128" y="1187691"/>
            <a:ext cx="15084351" cy="1085850"/>
          </a:xfrm>
          <a:prstGeom prst="rect">
            <a:avLst/>
          </a:prstGeom>
        </p:spPr>
        <p:txBody>
          <a:bodyPr anchor="t" rtlCol="false" tIns="0" lIns="0" bIns="0" rIns="0">
            <a:spAutoFit/>
          </a:bodyPr>
          <a:lstStyle/>
          <a:p>
            <a:pPr algn="ctr">
              <a:lnSpc>
                <a:spcPts val="4200"/>
              </a:lnSpc>
              <a:spcBef>
                <a:spcPct val="0"/>
              </a:spcBef>
            </a:pPr>
            <a:r>
              <a:rPr lang="en-US" sz="3000">
                <a:solidFill>
                  <a:srgbClr val="FFFFFF"/>
                </a:solidFill>
                <a:latin typeface="Arcade Gamer"/>
                <a:ea typeface="Arcade Gamer"/>
                <a:cs typeface="Arcade Gamer"/>
                <a:sym typeface="Arcade Gamer"/>
              </a:rPr>
              <a:t>AGENTIC AI FOR SELF-HEALING SUPPORT DURING HEADLESS E-COMMERCE MIGRATION</a:t>
            </a:r>
          </a:p>
        </p:txBody>
      </p:sp>
      <p:sp>
        <p:nvSpPr>
          <p:cNvPr name="TextBox 11" id="1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2022B"/>
        </a:solidFill>
      </p:bgPr>
    </p:bg>
    <p:spTree>
      <p:nvGrpSpPr>
        <p:cNvPr id="1" name=""/>
        <p:cNvGrpSpPr/>
        <p:nvPr/>
      </p:nvGrpSpPr>
      <p:grpSpPr>
        <a:xfrm>
          <a:off x="0" y="0"/>
          <a:ext cx="0" cy="0"/>
          <a:chOff x="0" y="0"/>
          <a:chExt cx="0" cy="0"/>
        </a:xfrm>
      </p:grpSpPr>
      <p:sp>
        <p:nvSpPr>
          <p:cNvPr name="Freeform 2" id="2"/>
          <p:cNvSpPr/>
          <p:nvPr/>
        </p:nvSpPr>
        <p:spPr>
          <a:xfrm flipH="false" flipV="false" rot="0">
            <a:off x="339453" y="4522832"/>
            <a:ext cx="2882084" cy="5764168"/>
          </a:xfrm>
          <a:custGeom>
            <a:avLst/>
            <a:gdLst/>
            <a:ahLst/>
            <a:cxnLst/>
            <a:rect r="r" b="b" t="t" l="l"/>
            <a:pathLst>
              <a:path h="5764168" w="2882084">
                <a:moveTo>
                  <a:pt x="0" y="0"/>
                </a:moveTo>
                <a:lnTo>
                  <a:pt x="2882084" y="0"/>
                </a:lnTo>
                <a:lnTo>
                  <a:pt x="2882084" y="5764168"/>
                </a:lnTo>
                <a:lnTo>
                  <a:pt x="0" y="57641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39453" y="858667"/>
            <a:ext cx="17609094" cy="1095375"/>
          </a:xfrm>
          <a:prstGeom prst="rect">
            <a:avLst/>
          </a:prstGeom>
        </p:spPr>
        <p:txBody>
          <a:bodyPr anchor="t" rtlCol="false" tIns="0" lIns="0" bIns="0" rIns="0">
            <a:spAutoFit/>
          </a:bodyPr>
          <a:lstStyle/>
          <a:p>
            <a:pPr algn="ctr">
              <a:lnSpc>
                <a:spcPts val="8400"/>
              </a:lnSpc>
              <a:spcBef>
                <a:spcPct val="0"/>
              </a:spcBef>
            </a:pPr>
            <a:r>
              <a:rPr lang="en-US" sz="6000">
                <a:solidFill>
                  <a:srgbClr val="FFFFFF"/>
                </a:solidFill>
                <a:latin typeface="Arcade Gamer"/>
                <a:ea typeface="Arcade Gamer"/>
                <a:cs typeface="Arcade Gamer"/>
                <a:sym typeface="Arcade Gamer"/>
              </a:rPr>
              <a:t>WHAT OUR AGENT DOES</a:t>
            </a:r>
          </a:p>
        </p:txBody>
      </p:sp>
      <p:sp>
        <p:nvSpPr>
          <p:cNvPr name="TextBox 4" id="4"/>
          <p:cNvSpPr txBox="true"/>
          <p:nvPr/>
        </p:nvSpPr>
        <p:spPr>
          <a:xfrm rot="0">
            <a:off x="3979750" y="3306573"/>
            <a:ext cx="12491091" cy="5951727"/>
          </a:xfrm>
          <a:prstGeom prst="rect">
            <a:avLst/>
          </a:prstGeom>
        </p:spPr>
        <p:txBody>
          <a:bodyPr anchor="t" rtlCol="false" tIns="0" lIns="0" bIns="0" rIns="0">
            <a:spAutoFit/>
          </a:bodyPr>
          <a:lstStyle/>
          <a:p>
            <a:pPr algn="l" marL="659582" indent="-329791" lvl="1">
              <a:lnSpc>
                <a:spcPts val="4277"/>
              </a:lnSpc>
              <a:buFont typeface="Arial"/>
              <a:buChar char="•"/>
            </a:pPr>
            <a:r>
              <a:rPr lang="en-US" sz="3055">
                <a:solidFill>
                  <a:srgbClr val="FFFFFF"/>
                </a:solidFill>
                <a:latin typeface="Anton"/>
                <a:ea typeface="Anton"/>
                <a:cs typeface="Anton"/>
                <a:sym typeface="Anton"/>
              </a:rPr>
              <a:t>The agent is the intelligence layer of a 4-stage self-healing system. Its core job is to automatically detect errors in an ecommerce app, decide whether they're safe to fix autonomously or need human approval, and then act accordingly. </a:t>
            </a:r>
          </a:p>
          <a:p>
            <a:pPr algn="l">
              <a:lnSpc>
                <a:spcPts val="4277"/>
              </a:lnSpc>
            </a:pPr>
          </a:p>
          <a:p>
            <a:pPr algn="l" marL="659582" indent="-329791" lvl="1">
              <a:lnSpc>
                <a:spcPts val="4277"/>
              </a:lnSpc>
              <a:buFont typeface="Arial"/>
              <a:buChar char="•"/>
            </a:pPr>
            <a:r>
              <a:rPr lang="en-US" sz="3055">
                <a:solidFill>
                  <a:srgbClr val="FFFFFF"/>
                </a:solidFill>
                <a:latin typeface="Anton"/>
                <a:ea typeface="Anton"/>
                <a:cs typeface="Anton"/>
                <a:sym typeface="Anton"/>
              </a:rPr>
              <a:t>It sits as the third pillar alongside the ecommerce app (error source) and the monitoring dashboard (visibility + approvals). </a:t>
            </a:r>
          </a:p>
          <a:p>
            <a:pPr algn="l">
              <a:lnSpc>
                <a:spcPts val="4277"/>
              </a:lnSpc>
            </a:pPr>
          </a:p>
          <a:p>
            <a:pPr algn="l" marL="659582" indent="-329791" lvl="1">
              <a:lnSpc>
                <a:spcPts val="4277"/>
              </a:lnSpc>
              <a:buFont typeface="Arial"/>
              <a:buChar char="•"/>
            </a:pPr>
            <a:r>
              <a:rPr lang="en-US" sz="3055">
                <a:solidFill>
                  <a:srgbClr val="FFFFFF"/>
                </a:solidFill>
                <a:latin typeface="Anton"/>
                <a:ea typeface="Anton"/>
                <a:cs typeface="Anton"/>
                <a:sym typeface="Anton"/>
              </a:rPr>
              <a:t>It's the only component that actually resolves tickets, everything else either generates them or displays them.</a:t>
            </a:r>
          </a:p>
          <a:p>
            <a:pPr algn="l">
              <a:lnSpc>
                <a:spcPts val="4277"/>
              </a:lnSpc>
            </a:pPr>
          </a:p>
        </p:txBody>
      </p:sp>
      <p:sp>
        <p:nvSpPr>
          <p:cNvPr name="Freeform 5" id="5"/>
          <p:cNvSpPr/>
          <p:nvPr/>
        </p:nvSpPr>
        <p:spPr>
          <a:xfrm flipH="false" flipV="false" rot="0">
            <a:off x="-736089" y="0"/>
            <a:ext cx="4453058" cy="793454"/>
          </a:xfrm>
          <a:custGeom>
            <a:avLst/>
            <a:gdLst/>
            <a:ahLst/>
            <a:cxnLst/>
            <a:rect r="r" b="b" t="t" l="l"/>
            <a:pathLst>
              <a:path h="793454" w="4453058">
                <a:moveTo>
                  <a:pt x="0" y="0"/>
                </a:moveTo>
                <a:lnTo>
                  <a:pt x="4453058" y="0"/>
                </a:lnTo>
                <a:lnTo>
                  <a:pt x="4453058" y="793454"/>
                </a:lnTo>
                <a:lnTo>
                  <a:pt x="0" y="7934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0">
            <a:off x="14571031" y="0"/>
            <a:ext cx="4453058" cy="793454"/>
          </a:xfrm>
          <a:custGeom>
            <a:avLst/>
            <a:gdLst/>
            <a:ahLst/>
            <a:cxnLst/>
            <a:rect r="r" b="b" t="t" l="l"/>
            <a:pathLst>
              <a:path h="793454" w="4453058">
                <a:moveTo>
                  <a:pt x="4453058" y="0"/>
                </a:moveTo>
                <a:lnTo>
                  <a:pt x="0" y="0"/>
                </a:lnTo>
                <a:lnTo>
                  <a:pt x="0" y="793454"/>
                </a:lnTo>
                <a:lnTo>
                  <a:pt x="4453058" y="793454"/>
                </a:lnTo>
                <a:lnTo>
                  <a:pt x="445305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2022B"/>
        </a:solidFill>
      </p:bgPr>
    </p:bg>
    <p:spTree>
      <p:nvGrpSpPr>
        <p:cNvPr id="1" name=""/>
        <p:cNvGrpSpPr/>
        <p:nvPr/>
      </p:nvGrpSpPr>
      <p:grpSpPr>
        <a:xfrm>
          <a:off x="0" y="0"/>
          <a:ext cx="0" cy="0"/>
          <a:chOff x="0" y="0"/>
          <a:chExt cx="0" cy="0"/>
        </a:xfrm>
      </p:grpSpPr>
      <p:sp>
        <p:nvSpPr>
          <p:cNvPr name="Freeform 2" id="2"/>
          <p:cNvSpPr/>
          <p:nvPr/>
        </p:nvSpPr>
        <p:spPr>
          <a:xfrm flipH="false" flipV="false" rot="0">
            <a:off x="-711215" y="399678"/>
            <a:ext cx="4453058" cy="793454"/>
          </a:xfrm>
          <a:custGeom>
            <a:avLst/>
            <a:gdLst/>
            <a:ahLst/>
            <a:cxnLst/>
            <a:rect r="r" b="b" t="t" l="l"/>
            <a:pathLst>
              <a:path h="793454" w="4453058">
                <a:moveTo>
                  <a:pt x="0" y="0"/>
                </a:moveTo>
                <a:lnTo>
                  <a:pt x="4453058" y="0"/>
                </a:lnTo>
                <a:lnTo>
                  <a:pt x="4453058" y="793454"/>
                </a:lnTo>
                <a:lnTo>
                  <a:pt x="0" y="7934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32828" y="5502248"/>
            <a:ext cx="2479371" cy="4784752"/>
          </a:xfrm>
          <a:custGeom>
            <a:avLst/>
            <a:gdLst/>
            <a:ahLst/>
            <a:cxnLst/>
            <a:rect r="r" b="b" t="t" l="l"/>
            <a:pathLst>
              <a:path h="4784752" w="2479371">
                <a:moveTo>
                  <a:pt x="0" y="0"/>
                </a:moveTo>
                <a:lnTo>
                  <a:pt x="2479371" y="0"/>
                </a:lnTo>
                <a:lnTo>
                  <a:pt x="2479371" y="4784752"/>
                </a:lnTo>
                <a:lnTo>
                  <a:pt x="0" y="47847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505512" y="644005"/>
            <a:ext cx="10083871" cy="911224"/>
          </a:xfrm>
          <a:prstGeom prst="rect">
            <a:avLst/>
          </a:prstGeom>
        </p:spPr>
        <p:txBody>
          <a:bodyPr anchor="t" rtlCol="false" tIns="0" lIns="0" bIns="0" rIns="0">
            <a:spAutoFit/>
          </a:bodyPr>
          <a:lstStyle/>
          <a:p>
            <a:pPr algn="l">
              <a:lnSpc>
                <a:spcPts val="7000"/>
              </a:lnSpc>
              <a:spcBef>
                <a:spcPct val="0"/>
              </a:spcBef>
            </a:pPr>
            <a:r>
              <a:rPr lang="en-US" sz="5000">
                <a:solidFill>
                  <a:srgbClr val="FFFFFF"/>
                </a:solidFill>
                <a:latin typeface="Arcade Gamer"/>
                <a:ea typeface="Arcade Gamer"/>
                <a:cs typeface="Arcade Gamer"/>
                <a:sym typeface="Arcade Gamer"/>
              </a:rPr>
              <a:t>HOW THE AGENT THINKS</a:t>
            </a:r>
          </a:p>
        </p:txBody>
      </p:sp>
      <p:sp>
        <p:nvSpPr>
          <p:cNvPr name="Freeform 5" id="5"/>
          <p:cNvSpPr/>
          <p:nvPr/>
        </p:nvSpPr>
        <p:spPr>
          <a:xfrm flipH="false" flipV="false" rot="0">
            <a:off x="15271322" y="1758724"/>
            <a:ext cx="4453058" cy="793454"/>
          </a:xfrm>
          <a:custGeom>
            <a:avLst/>
            <a:gdLst/>
            <a:ahLst/>
            <a:cxnLst/>
            <a:rect r="r" b="b" t="t" l="l"/>
            <a:pathLst>
              <a:path h="793454" w="4453058">
                <a:moveTo>
                  <a:pt x="0" y="0"/>
                </a:moveTo>
                <a:lnTo>
                  <a:pt x="4453058" y="0"/>
                </a:lnTo>
                <a:lnTo>
                  <a:pt x="4453058" y="793454"/>
                </a:lnTo>
                <a:lnTo>
                  <a:pt x="0" y="7934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773243" y="2749975"/>
            <a:ext cx="13424574" cy="7136002"/>
          </a:xfrm>
          <a:prstGeom prst="rect">
            <a:avLst/>
          </a:prstGeom>
        </p:spPr>
        <p:txBody>
          <a:bodyPr anchor="t" rtlCol="false" tIns="0" lIns="0" bIns="0" rIns="0">
            <a:spAutoFit/>
          </a:bodyPr>
          <a:lstStyle/>
          <a:p>
            <a:pPr algn="l" marL="551635" indent="-275817" lvl="1">
              <a:lnSpc>
                <a:spcPts val="3577"/>
              </a:lnSpc>
              <a:buFont typeface="Arial"/>
              <a:buChar char="•"/>
            </a:pPr>
            <a:r>
              <a:rPr lang="en-US" sz="2555" spc="76">
                <a:solidFill>
                  <a:srgbClr val="FFFFFF"/>
                </a:solidFill>
                <a:latin typeface="Anton"/>
                <a:ea typeface="Anton"/>
                <a:cs typeface="Anton"/>
                <a:sym typeface="Anton"/>
              </a:rPr>
              <a:t>It works in a strict three-step pipeline: Observer -&gt; Reasoner -&gt; Action Executor</a:t>
            </a:r>
          </a:p>
          <a:p>
            <a:pPr algn="l">
              <a:lnSpc>
                <a:spcPts val="3577"/>
              </a:lnSpc>
            </a:pPr>
          </a:p>
          <a:p>
            <a:pPr algn="l" marL="551635" indent="-275817" lvl="1">
              <a:lnSpc>
                <a:spcPts val="3577"/>
              </a:lnSpc>
              <a:buFont typeface="Arial"/>
              <a:buChar char="•"/>
            </a:pPr>
            <a:r>
              <a:rPr lang="en-US" sz="2555" spc="76">
                <a:solidFill>
                  <a:srgbClr val="FFFFFF"/>
                </a:solidFill>
                <a:latin typeface="Anton"/>
                <a:ea typeface="Anton"/>
                <a:cs typeface="Anton"/>
                <a:sym typeface="Anton"/>
              </a:rPr>
              <a:t>The Observer polls the shared MySQL database every 5 seconds looking for tickets with status = 'open'. Once found, it hands off to the Reasoner.</a:t>
            </a:r>
          </a:p>
          <a:p>
            <a:pPr algn="l">
              <a:lnSpc>
                <a:spcPts val="3577"/>
              </a:lnSpc>
            </a:pPr>
          </a:p>
          <a:p>
            <a:pPr algn="l" marL="551635" indent="-275817" lvl="1">
              <a:lnSpc>
                <a:spcPts val="3577"/>
              </a:lnSpc>
              <a:buFont typeface="Arial"/>
              <a:buChar char="•"/>
            </a:pPr>
            <a:r>
              <a:rPr lang="en-US" sz="2555" spc="76">
                <a:solidFill>
                  <a:srgbClr val="FFFFFF"/>
                </a:solidFill>
                <a:latin typeface="Anton"/>
                <a:ea typeface="Anton"/>
                <a:cs typeface="Anton"/>
                <a:sym typeface="Anton"/>
              </a:rPr>
              <a:t>The Reasoner uses an LLM to classify the ticket into one of two categories based on the description. If it detects keywords like table, database, delete, drop, schema, it flags it as a DB_CHANGE (risky, requires approval). If it detects button, color, font, layout, css, style, it flags it as a UI_CHANGE (safe, auto-execute). Anything else lands in UNKNOWN for manual review.</a:t>
            </a:r>
          </a:p>
          <a:p>
            <a:pPr algn="l">
              <a:lnSpc>
                <a:spcPts val="3577"/>
              </a:lnSpc>
            </a:pPr>
          </a:p>
          <a:p>
            <a:pPr algn="l" marL="551635" indent="-275817" lvl="1">
              <a:lnSpc>
                <a:spcPts val="3577"/>
              </a:lnSpc>
              <a:buFont typeface="Arial"/>
              <a:buChar char="•"/>
            </a:pPr>
            <a:r>
              <a:rPr lang="en-US" sz="2555" spc="76">
                <a:solidFill>
                  <a:srgbClr val="FFFFFF"/>
                </a:solidFill>
                <a:latin typeface="Anton"/>
                <a:ea typeface="Anton"/>
                <a:cs typeface="Anton"/>
                <a:sym typeface="Anton"/>
              </a:rPr>
              <a:t>The Action Executor then branches: UI_CHANGE gets executed immediately and the ticket is marked resolved. DB_CHANGE gets the agent's full plan stored in the proposed_action JSON field, and the ticket status flips to pending_approval — nothing executes until a human approves it through the dashboard.</a:t>
            </a:r>
          </a:p>
          <a:p>
            <a:pPr algn="l">
              <a:lnSpc>
                <a:spcPts val="3577"/>
              </a:lnSpc>
            </a:pP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2022B"/>
        </a:solidFill>
      </p:bgPr>
    </p:bg>
    <p:spTree>
      <p:nvGrpSpPr>
        <p:cNvPr id="1" name=""/>
        <p:cNvGrpSpPr/>
        <p:nvPr/>
      </p:nvGrpSpPr>
      <p:grpSpPr>
        <a:xfrm>
          <a:off x="0" y="0"/>
          <a:ext cx="0" cy="0"/>
          <a:chOff x="0" y="0"/>
          <a:chExt cx="0" cy="0"/>
        </a:xfrm>
      </p:grpSpPr>
      <p:sp>
        <p:nvSpPr>
          <p:cNvPr name="Freeform 2" id="2"/>
          <p:cNvSpPr/>
          <p:nvPr/>
        </p:nvSpPr>
        <p:spPr>
          <a:xfrm flipH="false" flipV="false" rot="0">
            <a:off x="486009" y="6172200"/>
            <a:ext cx="2311769" cy="4114800"/>
          </a:xfrm>
          <a:custGeom>
            <a:avLst/>
            <a:gdLst/>
            <a:ahLst/>
            <a:cxnLst/>
            <a:rect r="r" b="b" t="t" l="l"/>
            <a:pathLst>
              <a:path h="4114800" w="2311769">
                <a:moveTo>
                  <a:pt x="0" y="0"/>
                </a:moveTo>
                <a:lnTo>
                  <a:pt x="2311770" y="0"/>
                </a:lnTo>
                <a:lnTo>
                  <a:pt x="231177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893615"/>
            <a:ext cx="11095144" cy="911224"/>
          </a:xfrm>
          <a:prstGeom prst="rect">
            <a:avLst/>
          </a:prstGeom>
        </p:spPr>
        <p:txBody>
          <a:bodyPr anchor="t" rtlCol="false" tIns="0" lIns="0" bIns="0" rIns="0">
            <a:spAutoFit/>
          </a:bodyPr>
          <a:lstStyle/>
          <a:p>
            <a:pPr algn="l">
              <a:lnSpc>
                <a:spcPts val="7000"/>
              </a:lnSpc>
              <a:spcBef>
                <a:spcPct val="0"/>
              </a:spcBef>
            </a:pPr>
            <a:r>
              <a:rPr lang="en-US" sz="5000">
                <a:solidFill>
                  <a:srgbClr val="FFFFFF"/>
                </a:solidFill>
                <a:latin typeface="Arcade Gamer"/>
                <a:ea typeface="Arcade Gamer"/>
                <a:cs typeface="Arcade Gamer"/>
                <a:sym typeface="Arcade Gamer"/>
              </a:rPr>
              <a:t>SYSTEM BLOCK DIAGRAM</a:t>
            </a:r>
          </a:p>
        </p:txBody>
      </p:sp>
      <p:sp>
        <p:nvSpPr>
          <p:cNvPr name="Freeform 4" id="4"/>
          <p:cNvSpPr/>
          <p:nvPr/>
        </p:nvSpPr>
        <p:spPr>
          <a:xfrm flipH="true" flipV="false" rot="0">
            <a:off x="-641710" y="4214375"/>
            <a:ext cx="2283604" cy="797185"/>
          </a:xfrm>
          <a:custGeom>
            <a:avLst/>
            <a:gdLst/>
            <a:ahLst/>
            <a:cxnLst/>
            <a:rect r="r" b="b" t="t" l="l"/>
            <a:pathLst>
              <a:path h="797185" w="2283604">
                <a:moveTo>
                  <a:pt x="2283604" y="0"/>
                </a:moveTo>
                <a:lnTo>
                  <a:pt x="0" y="0"/>
                </a:lnTo>
                <a:lnTo>
                  <a:pt x="0" y="797185"/>
                </a:lnTo>
                <a:lnTo>
                  <a:pt x="2283604" y="797185"/>
                </a:lnTo>
                <a:lnTo>
                  <a:pt x="228360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4546157" y="631973"/>
            <a:ext cx="4453058" cy="793454"/>
          </a:xfrm>
          <a:custGeom>
            <a:avLst/>
            <a:gdLst/>
            <a:ahLst/>
            <a:cxnLst/>
            <a:rect r="r" b="b" t="t" l="l"/>
            <a:pathLst>
              <a:path h="793454" w="4453058">
                <a:moveTo>
                  <a:pt x="4453058" y="0"/>
                </a:moveTo>
                <a:lnTo>
                  <a:pt x="0" y="0"/>
                </a:lnTo>
                <a:lnTo>
                  <a:pt x="0" y="793454"/>
                </a:lnTo>
                <a:lnTo>
                  <a:pt x="4453058" y="793454"/>
                </a:lnTo>
                <a:lnTo>
                  <a:pt x="445305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3373453" y="2585149"/>
            <a:ext cx="13590244" cy="7136002"/>
          </a:xfrm>
          <a:prstGeom prst="rect">
            <a:avLst/>
          </a:prstGeom>
        </p:spPr>
        <p:txBody>
          <a:bodyPr anchor="t" rtlCol="false" tIns="0" lIns="0" bIns="0" rIns="0">
            <a:spAutoFit/>
          </a:bodyPr>
          <a:lstStyle/>
          <a:p>
            <a:pPr algn="l">
              <a:lnSpc>
                <a:spcPts val="3577"/>
              </a:lnSpc>
            </a:pPr>
            <a:r>
              <a:rPr lang="en-US" sz="2555" spc="76">
                <a:solidFill>
                  <a:srgbClr val="FFFFFF"/>
                </a:solidFill>
                <a:latin typeface="Anton"/>
                <a:ea typeface="Anton"/>
                <a:cs typeface="Anton"/>
                <a:sym typeface="Anton"/>
              </a:rPr>
              <a:t>Four stages, one shared MySQL database (ecommerce_db):</a:t>
            </a:r>
          </a:p>
          <a:p>
            <a:pPr algn="l" marL="551635" indent="-275817" lvl="1">
              <a:lnSpc>
                <a:spcPts val="3577"/>
              </a:lnSpc>
              <a:buFont typeface="Arial"/>
              <a:buChar char="•"/>
            </a:pPr>
            <a:r>
              <a:rPr lang="en-US" sz="2555" spc="76">
                <a:solidFill>
                  <a:srgbClr val="FFFFFF"/>
                </a:solidFill>
                <a:latin typeface="Anton"/>
                <a:ea typeface="Anton"/>
                <a:cs typeface="Anton"/>
                <a:sym typeface="Anton"/>
              </a:rPr>
              <a:t>Stage 1 is the ecommerce Flask app: catches errors and generates tickets with status='open', stores them via the Ticket model (User, Product, Order, Ticket) into MySQL.</a:t>
            </a:r>
          </a:p>
          <a:p>
            <a:pPr algn="l">
              <a:lnSpc>
                <a:spcPts val="3577"/>
              </a:lnSpc>
            </a:pPr>
          </a:p>
          <a:p>
            <a:pPr algn="l" marL="551635" indent="-275817" lvl="1">
              <a:lnSpc>
                <a:spcPts val="3577"/>
              </a:lnSpc>
              <a:buFont typeface="Arial"/>
              <a:buChar char="•"/>
            </a:pPr>
            <a:r>
              <a:rPr lang="en-US" sz="2555" spc="76">
                <a:solidFill>
                  <a:srgbClr val="FFFFFF"/>
                </a:solidFill>
                <a:latin typeface="Anton"/>
                <a:ea typeface="Anton"/>
                <a:cs typeface="Anton"/>
                <a:sym typeface="Anton"/>
              </a:rPr>
              <a:t>Stage 2 is the real-time dashboard: FastAPI backend exposes GET /api/tickets, POST /api/approve, and a WebSocket connection. The React TicketFeed UI pulls live ticket data and displays it.</a:t>
            </a:r>
          </a:p>
          <a:p>
            <a:pPr algn="l">
              <a:lnSpc>
                <a:spcPts val="3577"/>
              </a:lnSpc>
            </a:pPr>
          </a:p>
          <a:p>
            <a:pPr algn="l" marL="551635" indent="-275817" lvl="1">
              <a:lnSpc>
                <a:spcPts val="3577"/>
              </a:lnSpc>
              <a:buFont typeface="Arial"/>
              <a:buChar char="•"/>
            </a:pPr>
            <a:r>
              <a:rPr lang="en-US" sz="2555" spc="76">
                <a:solidFill>
                  <a:srgbClr val="FFFFFF"/>
                </a:solidFill>
                <a:latin typeface="Anton"/>
                <a:ea typeface="Anton"/>
                <a:cs typeface="Anton"/>
                <a:sym typeface="Anton"/>
              </a:rPr>
              <a:t>Stage 3 is the CyberCypher26 agent: Observer polls for open tickets, Reasoner classifies them via LLM, Action Executor either auto-fixes (UI_CHANGE) or requests approval (DB_CHANGE).</a:t>
            </a:r>
          </a:p>
          <a:p>
            <a:pPr algn="l">
              <a:lnSpc>
                <a:spcPts val="3577"/>
              </a:lnSpc>
            </a:pPr>
          </a:p>
          <a:p>
            <a:pPr algn="l" marL="551635" indent="-275817" lvl="1">
              <a:lnSpc>
                <a:spcPts val="3577"/>
              </a:lnSpc>
              <a:buFont typeface="Arial"/>
              <a:buChar char="•"/>
            </a:pPr>
            <a:r>
              <a:rPr lang="en-US" sz="2555" spc="76">
                <a:solidFill>
                  <a:srgbClr val="FFFFFF"/>
                </a:solidFill>
                <a:latin typeface="Anton"/>
                <a:ea typeface="Anton"/>
                <a:cs typeface="Anton"/>
                <a:sym typeface="Anton"/>
              </a:rPr>
              <a:t>Stage 4 is the approval loop: pending_approval tickets show up in the dashboard with an APPROVE button. User clicks it, POST hits the endpoint, agent executes the DB change, ticket moves to resolved.</a:t>
            </a:r>
          </a:p>
          <a:p>
            <a:pPr algn="l">
              <a:lnSpc>
                <a:spcPts val="3577"/>
              </a:lnSpc>
            </a:pP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2022B"/>
        </a:solidFill>
      </p:bgPr>
    </p:bg>
    <p:spTree>
      <p:nvGrpSpPr>
        <p:cNvPr id="1" name=""/>
        <p:cNvGrpSpPr/>
        <p:nvPr/>
      </p:nvGrpSpPr>
      <p:grpSpPr>
        <a:xfrm>
          <a:off x="0" y="0"/>
          <a:ext cx="0" cy="0"/>
          <a:chOff x="0" y="0"/>
          <a:chExt cx="0" cy="0"/>
        </a:xfrm>
      </p:grpSpPr>
      <p:sp>
        <p:nvSpPr>
          <p:cNvPr name="Freeform 2" id="2"/>
          <p:cNvSpPr/>
          <p:nvPr/>
        </p:nvSpPr>
        <p:spPr>
          <a:xfrm flipH="false" flipV="false" rot="0">
            <a:off x="1842795" y="1268495"/>
            <a:ext cx="13782789" cy="8828360"/>
          </a:xfrm>
          <a:custGeom>
            <a:avLst/>
            <a:gdLst/>
            <a:ahLst/>
            <a:cxnLst/>
            <a:rect r="r" b="b" t="t" l="l"/>
            <a:pathLst>
              <a:path h="8828360" w="13782789">
                <a:moveTo>
                  <a:pt x="0" y="0"/>
                </a:moveTo>
                <a:lnTo>
                  <a:pt x="13782789" y="0"/>
                </a:lnTo>
                <a:lnTo>
                  <a:pt x="13782789" y="8828360"/>
                </a:lnTo>
                <a:lnTo>
                  <a:pt x="0" y="8828360"/>
                </a:lnTo>
                <a:lnTo>
                  <a:pt x="0" y="0"/>
                </a:lnTo>
                <a:close/>
              </a:path>
            </a:pathLst>
          </a:custGeom>
          <a:blipFill>
            <a:blip r:embed="rId2"/>
            <a:stretch>
              <a:fillRect l="-1562" t="-10009" r="-1562" b="0"/>
            </a:stretch>
          </a:blipFill>
        </p:spPr>
      </p:sp>
      <p:sp>
        <p:nvSpPr>
          <p:cNvPr name="TextBox 3" id="3"/>
          <p:cNvSpPr txBox="true"/>
          <p:nvPr/>
        </p:nvSpPr>
        <p:spPr>
          <a:xfrm rot="0">
            <a:off x="325978" y="117476"/>
            <a:ext cx="11095144" cy="911224"/>
          </a:xfrm>
          <a:prstGeom prst="rect">
            <a:avLst/>
          </a:prstGeom>
        </p:spPr>
        <p:txBody>
          <a:bodyPr anchor="t" rtlCol="false" tIns="0" lIns="0" bIns="0" rIns="0">
            <a:spAutoFit/>
          </a:bodyPr>
          <a:lstStyle/>
          <a:p>
            <a:pPr algn="l">
              <a:lnSpc>
                <a:spcPts val="7000"/>
              </a:lnSpc>
              <a:spcBef>
                <a:spcPct val="0"/>
              </a:spcBef>
            </a:pPr>
            <a:r>
              <a:rPr lang="en-US" sz="5000">
                <a:solidFill>
                  <a:srgbClr val="FFFFFF"/>
                </a:solidFill>
                <a:latin typeface="Arcade Gamer"/>
                <a:ea typeface="Arcade Gamer"/>
                <a:cs typeface="Arcade Gamer"/>
                <a:sym typeface="Arcade Gamer"/>
              </a:rPr>
              <a:t>SYSTEM BLOCK DIAGRAM</a:t>
            </a:r>
          </a:p>
        </p:txBody>
      </p:sp>
      <p:sp>
        <p:nvSpPr>
          <p:cNvPr name="TextBox 4" id="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2022B"/>
        </a:solidFill>
      </p:bgPr>
    </p:bg>
    <p:spTree>
      <p:nvGrpSpPr>
        <p:cNvPr id="1" name=""/>
        <p:cNvGrpSpPr/>
        <p:nvPr/>
      </p:nvGrpSpPr>
      <p:grpSpPr>
        <a:xfrm>
          <a:off x="0" y="0"/>
          <a:ext cx="0" cy="0"/>
          <a:chOff x="0" y="0"/>
          <a:chExt cx="0" cy="0"/>
        </a:xfrm>
      </p:grpSpPr>
      <p:sp>
        <p:nvSpPr>
          <p:cNvPr name="Freeform 2" id="2"/>
          <p:cNvSpPr/>
          <p:nvPr/>
        </p:nvSpPr>
        <p:spPr>
          <a:xfrm flipH="false" flipV="false" rot="0">
            <a:off x="5194163" y="1255578"/>
            <a:ext cx="7899675" cy="8590787"/>
          </a:xfrm>
          <a:custGeom>
            <a:avLst/>
            <a:gdLst/>
            <a:ahLst/>
            <a:cxnLst/>
            <a:rect r="r" b="b" t="t" l="l"/>
            <a:pathLst>
              <a:path h="8590787" w="7899675">
                <a:moveTo>
                  <a:pt x="0" y="0"/>
                </a:moveTo>
                <a:lnTo>
                  <a:pt x="7899674" y="0"/>
                </a:lnTo>
                <a:lnTo>
                  <a:pt x="7899674" y="8590786"/>
                </a:lnTo>
                <a:lnTo>
                  <a:pt x="0" y="8590786"/>
                </a:lnTo>
                <a:lnTo>
                  <a:pt x="0" y="0"/>
                </a:lnTo>
                <a:close/>
              </a:path>
            </a:pathLst>
          </a:custGeom>
          <a:blipFill>
            <a:blip r:embed="rId2"/>
            <a:stretch>
              <a:fillRect l="0" t="0" r="0" b="0"/>
            </a:stretch>
          </a:blipFill>
        </p:spPr>
      </p:sp>
      <p:sp>
        <p:nvSpPr>
          <p:cNvPr name="TextBox 3" id="3"/>
          <p:cNvSpPr txBox="true"/>
          <p:nvPr/>
        </p:nvSpPr>
        <p:spPr>
          <a:xfrm rot="0">
            <a:off x="247898" y="117476"/>
            <a:ext cx="11095144" cy="911224"/>
          </a:xfrm>
          <a:prstGeom prst="rect">
            <a:avLst/>
          </a:prstGeom>
        </p:spPr>
        <p:txBody>
          <a:bodyPr anchor="t" rtlCol="false" tIns="0" lIns="0" bIns="0" rIns="0">
            <a:spAutoFit/>
          </a:bodyPr>
          <a:lstStyle/>
          <a:p>
            <a:pPr algn="l">
              <a:lnSpc>
                <a:spcPts val="7000"/>
              </a:lnSpc>
              <a:spcBef>
                <a:spcPct val="0"/>
              </a:spcBef>
            </a:pPr>
            <a:r>
              <a:rPr lang="en-US" sz="5000">
                <a:solidFill>
                  <a:srgbClr val="FFFFFF"/>
                </a:solidFill>
                <a:latin typeface="Arcade Gamer"/>
                <a:ea typeface="Arcade Gamer"/>
                <a:cs typeface="Arcade Gamer"/>
                <a:sym typeface="Arcade Gamer"/>
              </a:rPr>
              <a:t>TICKET PROCESSING FLOW</a:t>
            </a:r>
          </a:p>
        </p:txBody>
      </p:sp>
      <p:sp>
        <p:nvSpPr>
          <p:cNvPr name="TextBox 4" id="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2022B"/>
        </a:solidFill>
      </p:bgPr>
    </p:bg>
    <p:spTree>
      <p:nvGrpSpPr>
        <p:cNvPr id="1" name=""/>
        <p:cNvGrpSpPr/>
        <p:nvPr/>
      </p:nvGrpSpPr>
      <p:grpSpPr>
        <a:xfrm>
          <a:off x="0" y="0"/>
          <a:ext cx="0" cy="0"/>
          <a:chOff x="0" y="0"/>
          <a:chExt cx="0" cy="0"/>
        </a:xfrm>
      </p:grpSpPr>
      <p:sp>
        <p:nvSpPr>
          <p:cNvPr name="Freeform 2" id="2"/>
          <p:cNvSpPr/>
          <p:nvPr/>
        </p:nvSpPr>
        <p:spPr>
          <a:xfrm flipH="false" flipV="false" rot="0">
            <a:off x="486009" y="6172200"/>
            <a:ext cx="2311769" cy="4114800"/>
          </a:xfrm>
          <a:custGeom>
            <a:avLst/>
            <a:gdLst/>
            <a:ahLst/>
            <a:cxnLst/>
            <a:rect r="r" b="b" t="t" l="l"/>
            <a:pathLst>
              <a:path h="4114800" w="2311769">
                <a:moveTo>
                  <a:pt x="0" y="0"/>
                </a:moveTo>
                <a:lnTo>
                  <a:pt x="2311770" y="0"/>
                </a:lnTo>
                <a:lnTo>
                  <a:pt x="231177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893615"/>
            <a:ext cx="9352642" cy="911224"/>
          </a:xfrm>
          <a:prstGeom prst="rect">
            <a:avLst/>
          </a:prstGeom>
        </p:spPr>
        <p:txBody>
          <a:bodyPr anchor="t" rtlCol="false" tIns="0" lIns="0" bIns="0" rIns="0">
            <a:spAutoFit/>
          </a:bodyPr>
          <a:lstStyle/>
          <a:p>
            <a:pPr algn="l">
              <a:lnSpc>
                <a:spcPts val="7000"/>
              </a:lnSpc>
              <a:spcBef>
                <a:spcPct val="0"/>
              </a:spcBef>
            </a:pPr>
            <a:r>
              <a:rPr lang="en-US" sz="5000">
                <a:solidFill>
                  <a:srgbClr val="FFFFFF"/>
                </a:solidFill>
                <a:latin typeface="Arcade Gamer"/>
                <a:ea typeface="Arcade Gamer"/>
                <a:cs typeface="Arcade Gamer"/>
                <a:sym typeface="Arcade Gamer"/>
              </a:rPr>
              <a:t>SYSTEM STRUCTURE</a:t>
            </a:r>
          </a:p>
        </p:txBody>
      </p:sp>
      <p:sp>
        <p:nvSpPr>
          <p:cNvPr name="Freeform 4" id="4"/>
          <p:cNvSpPr/>
          <p:nvPr/>
        </p:nvSpPr>
        <p:spPr>
          <a:xfrm flipH="true" flipV="false" rot="0">
            <a:off x="-641710" y="4214375"/>
            <a:ext cx="2283604" cy="797185"/>
          </a:xfrm>
          <a:custGeom>
            <a:avLst/>
            <a:gdLst/>
            <a:ahLst/>
            <a:cxnLst/>
            <a:rect r="r" b="b" t="t" l="l"/>
            <a:pathLst>
              <a:path h="797185" w="2283604">
                <a:moveTo>
                  <a:pt x="2283604" y="0"/>
                </a:moveTo>
                <a:lnTo>
                  <a:pt x="0" y="0"/>
                </a:lnTo>
                <a:lnTo>
                  <a:pt x="0" y="797185"/>
                </a:lnTo>
                <a:lnTo>
                  <a:pt x="2283604" y="797185"/>
                </a:lnTo>
                <a:lnTo>
                  <a:pt x="228360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4546157" y="631973"/>
            <a:ext cx="4453058" cy="793454"/>
          </a:xfrm>
          <a:custGeom>
            <a:avLst/>
            <a:gdLst/>
            <a:ahLst/>
            <a:cxnLst/>
            <a:rect r="r" b="b" t="t" l="l"/>
            <a:pathLst>
              <a:path h="793454" w="4453058">
                <a:moveTo>
                  <a:pt x="4453058" y="0"/>
                </a:moveTo>
                <a:lnTo>
                  <a:pt x="0" y="0"/>
                </a:lnTo>
                <a:lnTo>
                  <a:pt x="0" y="793454"/>
                </a:lnTo>
                <a:lnTo>
                  <a:pt x="4453058" y="793454"/>
                </a:lnTo>
                <a:lnTo>
                  <a:pt x="445305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3669056" y="3123368"/>
            <a:ext cx="13590244" cy="5792977"/>
          </a:xfrm>
          <a:prstGeom prst="rect">
            <a:avLst/>
          </a:prstGeom>
        </p:spPr>
        <p:txBody>
          <a:bodyPr anchor="t" rtlCol="false" tIns="0" lIns="0" bIns="0" rIns="0">
            <a:spAutoFit/>
          </a:bodyPr>
          <a:lstStyle/>
          <a:p>
            <a:pPr algn="l">
              <a:lnSpc>
                <a:spcPts val="3577"/>
              </a:lnSpc>
            </a:pPr>
            <a:r>
              <a:rPr lang="en-US" sz="2555" spc="76">
                <a:solidFill>
                  <a:srgbClr val="FFFFFF"/>
                </a:solidFill>
                <a:latin typeface="Anton"/>
                <a:ea typeface="Anton"/>
                <a:cs typeface="Anton"/>
                <a:sym typeface="Anton"/>
              </a:rPr>
              <a:t>Three independent services, one shared MySQL database (ecommerce_db):</a:t>
            </a:r>
          </a:p>
          <a:p>
            <a:pPr algn="l" marL="551635" indent="-275817" lvl="1">
              <a:lnSpc>
                <a:spcPts val="3577"/>
              </a:lnSpc>
              <a:buFont typeface="Arial"/>
              <a:buChar char="•"/>
            </a:pPr>
            <a:r>
              <a:rPr lang="en-US" sz="2555" spc="76">
                <a:solidFill>
                  <a:srgbClr val="FFFFFF"/>
                </a:solidFill>
                <a:latin typeface="Anton"/>
                <a:ea typeface="Anton"/>
                <a:cs typeface="Anton"/>
                <a:sym typeface="Anton"/>
              </a:rPr>
              <a:t>Ecommerce tier (Flask) — generates tickets when errors occur, owns the Ticket model and ORM layer. Key files: models/ticket.py, route handlers, migrations.</a:t>
            </a:r>
          </a:p>
          <a:p>
            <a:pPr algn="l">
              <a:lnSpc>
                <a:spcPts val="3577"/>
              </a:lnSpc>
            </a:pPr>
          </a:p>
          <a:p>
            <a:pPr algn="l" marL="551635" indent="-275817" lvl="1">
              <a:lnSpc>
                <a:spcPts val="3577"/>
              </a:lnSpc>
              <a:buFont typeface="Arial"/>
              <a:buChar char="•"/>
            </a:pPr>
            <a:r>
              <a:rPr lang="en-US" sz="2555" spc="76">
                <a:solidFill>
                  <a:srgbClr val="FFFFFF"/>
                </a:solidFill>
                <a:latin typeface="Anton"/>
                <a:ea typeface="Anton"/>
                <a:cs typeface="Anton"/>
                <a:sym typeface="Anton"/>
              </a:rPr>
              <a:t>Dashboard tier (FastAPI + React) — reads tickets via GET /api/tickets (polled every 2–5s), renders them in a live feed, and handles approvals via POST /api/tickets/{id}/approve. The React TicketFeed component shows status, priority, description, and an APPROVE button for anything in pending_approval.</a:t>
            </a:r>
          </a:p>
          <a:p>
            <a:pPr algn="l">
              <a:lnSpc>
                <a:spcPts val="3577"/>
              </a:lnSpc>
            </a:pPr>
          </a:p>
          <a:p>
            <a:pPr algn="l" marL="551635" indent="-275817" lvl="1">
              <a:lnSpc>
                <a:spcPts val="3577"/>
              </a:lnSpc>
              <a:buFont typeface="Arial"/>
              <a:buChar char="•"/>
            </a:pPr>
            <a:r>
              <a:rPr lang="en-US" sz="2555" spc="76">
                <a:solidFill>
                  <a:srgbClr val="FFFFFF"/>
                </a:solidFill>
                <a:latin typeface="Anton"/>
                <a:ea typeface="Anton"/>
                <a:cs typeface="Anton"/>
                <a:sym typeface="Anton"/>
              </a:rPr>
              <a:t>Agent tier (CyberCypher26) — three modules: observer.py (polling), reasoning.py (LLM classification), action.py (execution or approval request). Also has memory.py for state tracking and decision.py for decision logic.</a:t>
            </a:r>
          </a:p>
          <a:p>
            <a:pPr algn="l">
              <a:lnSpc>
                <a:spcPts val="3577"/>
              </a:lnSpc>
            </a:pP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2022B"/>
        </a:solidFill>
      </p:bgPr>
    </p:bg>
    <p:spTree>
      <p:nvGrpSpPr>
        <p:cNvPr id="1" name=""/>
        <p:cNvGrpSpPr/>
        <p:nvPr/>
      </p:nvGrpSpPr>
      <p:grpSpPr>
        <a:xfrm>
          <a:off x="0" y="0"/>
          <a:ext cx="0" cy="0"/>
          <a:chOff x="0" y="0"/>
          <a:chExt cx="0" cy="0"/>
        </a:xfrm>
      </p:grpSpPr>
      <p:sp>
        <p:nvSpPr>
          <p:cNvPr name="Freeform 2" id="2"/>
          <p:cNvSpPr/>
          <p:nvPr/>
        </p:nvSpPr>
        <p:spPr>
          <a:xfrm flipH="false" flipV="false" rot="0">
            <a:off x="3321446" y="1028700"/>
            <a:ext cx="11645109" cy="9101020"/>
          </a:xfrm>
          <a:custGeom>
            <a:avLst/>
            <a:gdLst/>
            <a:ahLst/>
            <a:cxnLst/>
            <a:rect r="r" b="b" t="t" l="l"/>
            <a:pathLst>
              <a:path h="9101020" w="11645109">
                <a:moveTo>
                  <a:pt x="0" y="0"/>
                </a:moveTo>
                <a:lnTo>
                  <a:pt x="11645108" y="0"/>
                </a:lnTo>
                <a:lnTo>
                  <a:pt x="11645108" y="9101020"/>
                </a:lnTo>
                <a:lnTo>
                  <a:pt x="0" y="9101020"/>
                </a:lnTo>
                <a:lnTo>
                  <a:pt x="0" y="0"/>
                </a:lnTo>
                <a:close/>
              </a:path>
            </a:pathLst>
          </a:custGeom>
          <a:blipFill>
            <a:blip r:embed="rId2"/>
            <a:stretch>
              <a:fillRect l="0" t="0" r="0" b="0"/>
            </a:stretch>
          </a:blipFill>
        </p:spPr>
      </p:sp>
      <p:sp>
        <p:nvSpPr>
          <p:cNvPr name="TextBox 3" id="3"/>
          <p:cNvSpPr txBox="true"/>
          <p:nvPr/>
        </p:nvSpPr>
        <p:spPr>
          <a:xfrm rot="0">
            <a:off x="221587" y="117476"/>
            <a:ext cx="11095144" cy="911224"/>
          </a:xfrm>
          <a:prstGeom prst="rect">
            <a:avLst/>
          </a:prstGeom>
        </p:spPr>
        <p:txBody>
          <a:bodyPr anchor="t" rtlCol="false" tIns="0" lIns="0" bIns="0" rIns="0">
            <a:spAutoFit/>
          </a:bodyPr>
          <a:lstStyle/>
          <a:p>
            <a:pPr algn="l">
              <a:lnSpc>
                <a:spcPts val="7000"/>
              </a:lnSpc>
              <a:spcBef>
                <a:spcPct val="0"/>
              </a:spcBef>
            </a:pPr>
            <a:r>
              <a:rPr lang="en-US" sz="5000">
                <a:solidFill>
                  <a:srgbClr val="FFFFFF"/>
                </a:solidFill>
                <a:latin typeface="Arcade Gamer"/>
                <a:ea typeface="Arcade Gamer"/>
                <a:cs typeface="Arcade Gamer"/>
                <a:sym typeface="Arcade Gamer"/>
              </a:rPr>
              <a:t>SYSTEM ARCHITECTURE</a:t>
            </a:r>
          </a:p>
        </p:txBody>
      </p:sp>
      <p:sp>
        <p:nvSpPr>
          <p:cNvPr name="TextBox 4" id="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2022B"/>
        </a:solidFill>
      </p:bgPr>
    </p:bg>
    <p:spTree>
      <p:nvGrpSpPr>
        <p:cNvPr id="1" name=""/>
        <p:cNvGrpSpPr/>
        <p:nvPr/>
      </p:nvGrpSpPr>
      <p:grpSpPr>
        <a:xfrm>
          <a:off x="0" y="0"/>
          <a:ext cx="0" cy="0"/>
          <a:chOff x="0" y="0"/>
          <a:chExt cx="0" cy="0"/>
        </a:xfrm>
      </p:grpSpPr>
      <p:sp>
        <p:nvSpPr>
          <p:cNvPr name="Freeform 2" id="2"/>
          <p:cNvSpPr/>
          <p:nvPr/>
        </p:nvSpPr>
        <p:spPr>
          <a:xfrm flipH="false" flipV="false" rot="0">
            <a:off x="3124040" y="1851024"/>
            <a:ext cx="12039920" cy="8331773"/>
          </a:xfrm>
          <a:custGeom>
            <a:avLst/>
            <a:gdLst/>
            <a:ahLst/>
            <a:cxnLst/>
            <a:rect r="r" b="b" t="t" l="l"/>
            <a:pathLst>
              <a:path h="8331773" w="12039920">
                <a:moveTo>
                  <a:pt x="0" y="0"/>
                </a:moveTo>
                <a:lnTo>
                  <a:pt x="12039920" y="0"/>
                </a:lnTo>
                <a:lnTo>
                  <a:pt x="12039920" y="8331773"/>
                </a:lnTo>
                <a:lnTo>
                  <a:pt x="0" y="8331773"/>
                </a:lnTo>
                <a:lnTo>
                  <a:pt x="0" y="0"/>
                </a:lnTo>
                <a:close/>
              </a:path>
            </a:pathLst>
          </a:custGeom>
          <a:blipFill>
            <a:blip r:embed="rId2"/>
            <a:stretch>
              <a:fillRect l="0" t="0" r="0" b="0"/>
            </a:stretch>
          </a:blipFill>
        </p:spPr>
      </p:sp>
      <p:sp>
        <p:nvSpPr>
          <p:cNvPr name="TextBox 3" id="3"/>
          <p:cNvSpPr txBox="true"/>
          <p:nvPr/>
        </p:nvSpPr>
        <p:spPr>
          <a:xfrm rot="0">
            <a:off x="201901" y="53976"/>
            <a:ext cx="11095144" cy="1797049"/>
          </a:xfrm>
          <a:prstGeom prst="rect">
            <a:avLst/>
          </a:prstGeom>
        </p:spPr>
        <p:txBody>
          <a:bodyPr anchor="t" rtlCol="false" tIns="0" lIns="0" bIns="0" rIns="0">
            <a:spAutoFit/>
          </a:bodyPr>
          <a:lstStyle/>
          <a:p>
            <a:pPr algn="l">
              <a:lnSpc>
                <a:spcPts val="7000"/>
              </a:lnSpc>
              <a:spcBef>
                <a:spcPct val="0"/>
              </a:spcBef>
            </a:pPr>
            <a:r>
              <a:rPr lang="en-US" sz="5000">
                <a:solidFill>
                  <a:srgbClr val="FFFFFF"/>
                </a:solidFill>
                <a:latin typeface="Arcade Gamer"/>
                <a:ea typeface="Arcade Gamer"/>
                <a:cs typeface="Arcade Gamer"/>
                <a:sym typeface="Arcade Gamer"/>
              </a:rPr>
              <a:t>REAL-TIME INTERACTION &amp; EVENT FLOW</a:t>
            </a:r>
          </a:p>
        </p:txBody>
      </p:sp>
      <p:sp>
        <p:nvSpPr>
          <p:cNvPr name="TextBox 4" id="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2022B"/>
        </a:solidFill>
      </p:bgPr>
    </p:bg>
    <p:spTree>
      <p:nvGrpSpPr>
        <p:cNvPr id="1" name=""/>
        <p:cNvGrpSpPr/>
        <p:nvPr/>
      </p:nvGrpSpPr>
      <p:grpSpPr>
        <a:xfrm>
          <a:off x="0" y="0"/>
          <a:ext cx="0" cy="0"/>
          <a:chOff x="0" y="0"/>
          <a:chExt cx="0" cy="0"/>
        </a:xfrm>
      </p:grpSpPr>
      <p:sp>
        <p:nvSpPr>
          <p:cNvPr name="Freeform 2" id="2"/>
          <p:cNvSpPr/>
          <p:nvPr/>
        </p:nvSpPr>
        <p:spPr>
          <a:xfrm flipH="false" flipV="false" rot="0">
            <a:off x="-1148907" y="5421625"/>
            <a:ext cx="5196031" cy="4865375"/>
          </a:xfrm>
          <a:custGeom>
            <a:avLst/>
            <a:gdLst/>
            <a:ahLst/>
            <a:cxnLst/>
            <a:rect r="r" b="b" t="t" l="l"/>
            <a:pathLst>
              <a:path h="4865375" w="5196031">
                <a:moveTo>
                  <a:pt x="0" y="0"/>
                </a:moveTo>
                <a:lnTo>
                  <a:pt x="5196031" y="0"/>
                </a:lnTo>
                <a:lnTo>
                  <a:pt x="5196031" y="4865375"/>
                </a:lnTo>
                <a:lnTo>
                  <a:pt x="0" y="48653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1479" y="-413826"/>
            <a:ext cx="2494479" cy="2494479"/>
          </a:xfrm>
          <a:custGeom>
            <a:avLst/>
            <a:gdLst/>
            <a:ahLst/>
            <a:cxnLst/>
            <a:rect r="r" b="b" t="t" l="l"/>
            <a:pathLst>
              <a:path h="2494479" w="2494479">
                <a:moveTo>
                  <a:pt x="0" y="0"/>
                </a:moveTo>
                <a:lnTo>
                  <a:pt x="2494478" y="0"/>
                </a:lnTo>
                <a:lnTo>
                  <a:pt x="2494478" y="2494479"/>
                </a:lnTo>
                <a:lnTo>
                  <a:pt x="0" y="24944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725760" y="1256800"/>
            <a:ext cx="2359993" cy="823852"/>
          </a:xfrm>
          <a:custGeom>
            <a:avLst/>
            <a:gdLst/>
            <a:ahLst/>
            <a:cxnLst/>
            <a:rect r="r" b="b" t="t" l="l"/>
            <a:pathLst>
              <a:path h="823852" w="2359993">
                <a:moveTo>
                  <a:pt x="2359993" y="0"/>
                </a:moveTo>
                <a:lnTo>
                  <a:pt x="0" y="0"/>
                </a:lnTo>
                <a:lnTo>
                  <a:pt x="0" y="823853"/>
                </a:lnTo>
                <a:lnTo>
                  <a:pt x="2359993" y="823853"/>
                </a:lnTo>
                <a:lnTo>
                  <a:pt x="235999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5901945" y="574331"/>
            <a:ext cx="2908065" cy="518164"/>
          </a:xfrm>
          <a:custGeom>
            <a:avLst/>
            <a:gdLst/>
            <a:ahLst/>
            <a:cxnLst/>
            <a:rect r="r" b="b" t="t" l="l"/>
            <a:pathLst>
              <a:path h="518164" w="2908065">
                <a:moveTo>
                  <a:pt x="2908065" y="0"/>
                </a:moveTo>
                <a:lnTo>
                  <a:pt x="0" y="0"/>
                </a:lnTo>
                <a:lnTo>
                  <a:pt x="0" y="518164"/>
                </a:lnTo>
                <a:lnTo>
                  <a:pt x="2908065" y="518164"/>
                </a:lnTo>
                <a:lnTo>
                  <a:pt x="2908065"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2140373" y="8914416"/>
            <a:ext cx="4718258" cy="1372584"/>
          </a:xfrm>
          <a:custGeom>
            <a:avLst/>
            <a:gdLst/>
            <a:ahLst/>
            <a:cxnLst/>
            <a:rect r="r" b="b" t="t" l="l"/>
            <a:pathLst>
              <a:path h="1372584" w="4718258">
                <a:moveTo>
                  <a:pt x="0" y="0"/>
                </a:moveTo>
                <a:lnTo>
                  <a:pt x="4718258" y="0"/>
                </a:lnTo>
                <a:lnTo>
                  <a:pt x="4718258" y="1372584"/>
                </a:lnTo>
                <a:lnTo>
                  <a:pt x="0" y="137258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3238386" y="709783"/>
            <a:ext cx="12510926" cy="911224"/>
          </a:xfrm>
          <a:prstGeom prst="rect">
            <a:avLst/>
          </a:prstGeom>
        </p:spPr>
        <p:txBody>
          <a:bodyPr anchor="t" rtlCol="false" tIns="0" lIns="0" bIns="0" rIns="0">
            <a:spAutoFit/>
          </a:bodyPr>
          <a:lstStyle/>
          <a:p>
            <a:pPr algn="l">
              <a:lnSpc>
                <a:spcPts val="7000"/>
              </a:lnSpc>
              <a:spcBef>
                <a:spcPct val="0"/>
              </a:spcBef>
            </a:pPr>
            <a:r>
              <a:rPr lang="en-US" sz="5000">
                <a:solidFill>
                  <a:srgbClr val="FFFFFF"/>
                </a:solidFill>
                <a:latin typeface="Arcade Gamer"/>
                <a:ea typeface="Arcade Gamer"/>
                <a:cs typeface="Arcade Gamer"/>
                <a:sym typeface="Arcade Gamer"/>
              </a:rPr>
              <a:t>PERFORMANCE &amp; EFFICIENCY</a:t>
            </a:r>
          </a:p>
        </p:txBody>
      </p:sp>
      <p:sp>
        <p:nvSpPr>
          <p:cNvPr name="TextBox 8" id="8"/>
          <p:cNvSpPr txBox="true"/>
          <p:nvPr/>
        </p:nvSpPr>
        <p:spPr>
          <a:xfrm rot="0">
            <a:off x="4462516" y="2767112"/>
            <a:ext cx="11567698" cy="5792977"/>
          </a:xfrm>
          <a:prstGeom prst="rect">
            <a:avLst/>
          </a:prstGeom>
        </p:spPr>
        <p:txBody>
          <a:bodyPr anchor="t" rtlCol="false" tIns="0" lIns="0" bIns="0" rIns="0">
            <a:spAutoFit/>
          </a:bodyPr>
          <a:lstStyle/>
          <a:p>
            <a:pPr algn="l">
              <a:lnSpc>
                <a:spcPts val="3577"/>
              </a:lnSpc>
            </a:pPr>
            <a:r>
              <a:rPr lang="en-US" sz="2555" spc="76">
                <a:solidFill>
                  <a:srgbClr val="FFFFFF"/>
                </a:solidFill>
                <a:latin typeface="Anton"/>
                <a:ea typeface="Anton"/>
                <a:cs typeface="Anton"/>
                <a:sym typeface="Anton"/>
              </a:rPr>
              <a:t>Detection latency is 0–5 seconds (Observer poll interval). LLM reasoning adds ~1–2 seconds. Dashboard refresh is another 2–5 seconds. Total end-to-end from error to user seeing resolution: 7–12 seconds.</a:t>
            </a:r>
          </a:p>
          <a:p>
            <a:pPr algn="l">
              <a:lnSpc>
                <a:spcPts val="3577"/>
              </a:lnSpc>
            </a:pPr>
          </a:p>
          <a:p>
            <a:pPr algn="l" marL="551635" indent="-275817" lvl="1">
              <a:lnSpc>
                <a:spcPts val="3577"/>
              </a:lnSpc>
              <a:buFont typeface="Arial"/>
              <a:buChar char="•"/>
            </a:pPr>
            <a:r>
              <a:rPr lang="en-US" sz="2555" spc="76">
                <a:solidFill>
                  <a:srgbClr val="FFFFFF"/>
                </a:solidFill>
                <a:latin typeface="Anton"/>
                <a:ea typeface="Anton"/>
                <a:cs typeface="Anton"/>
                <a:sym typeface="Anton"/>
              </a:rPr>
              <a:t>The architecture is non-blocking and async. FastAPI handles the dashboard backend efficiently. </a:t>
            </a:r>
          </a:p>
          <a:p>
            <a:pPr algn="l">
              <a:lnSpc>
                <a:spcPts val="3577"/>
              </a:lnSpc>
            </a:pPr>
          </a:p>
          <a:p>
            <a:pPr algn="l" marL="551635" indent="-275817" lvl="1">
              <a:lnSpc>
                <a:spcPts val="3577"/>
              </a:lnSpc>
              <a:buFont typeface="Arial"/>
              <a:buChar char="•"/>
            </a:pPr>
            <a:r>
              <a:rPr lang="en-US" sz="2555" spc="76">
                <a:solidFill>
                  <a:srgbClr val="FFFFFF"/>
                </a:solidFill>
                <a:latin typeface="Anton"/>
                <a:ea typeface="Anton"/>
                <a:cs typeface="Anton"/>
                <a:sym typeface="Anton"/>
              </a:rPr>
              <a:t>The agent can be scaled horizontally, multiple observer instances can run in parallel without conflict since they're just polling for status = 'open'. </a:t>
            </a:r>
          </a:p>
          <a:p>
            <a:pPr algn="l">
              <a:lnSpc>
                <a:spcPts val="3577"/>
              </a:lnSpc>
            </a:pPr>
          </a:p>
          <a:p>
            <a:pPr algn="l" marL="551635" indent="-275817" lvl="1">
              <a:lnSpc>
                <a:spcPts val="3577"/>
              </a:lnSpc>
              <a:buFont typeface="Arial"/>
              <a:buChar char="•"/>
            </a:pPr>
            <a:r>
              <a:rPr lang="en-US" sz="2555" spc="76">
                <a:solidFill>
                  <a:srgbClr val="FFFFFF"/>
                </a:solidFill>
                <a:latin typeface="Anton"/>
                <a:ea typeface="Anton"/>
                <a:cs typeface="Anton"/>
                <a:sym typeface="Anton"/>
              </a:rPr>
              <a:t>The dashboard poll interval is tunable if you need to trade off between responsiveness and DB load.</a:t>
            </a:r>
          </a:p>
          <a:p>
            <a:pPr algn="l">
              <a:lnSpc>
                <a:spcPts val="3577"/>
              </a:lnSpc>
            </a:pPr>
          </a:p>
        </p:txBody>
      </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2022B"/>
        </a:solidFill>
      </p:bgPr>
    </p:bg>
    <p:spTree>
      <p:nvGrpSpPr>
        <p:cNvPr id="1" name=""/>
        <p:cNvGrpSpPr/>
        <p:nvPr/>
      </p:nvGrpSpPr>
      <p:grpSpPr>
        <a:xfrm>
          <a:off x="0" y="0"/>
          <a:ext cx="0" cy="0"/>
          <a:chOff x="0" y="0"/>
          <a:chExt cx="0" cy="0"/>
        </a:xfrm>
      </p:grpSpPr>
      <p:sp>
        <p:nvSpPr>
          <p:cNvPr name="Freeform 2" id="2"/>
          <p:cNvSpPr/>
          <p:nvPr/>
        </p:nvSpPr>
        <p:spPr>
          <a:xfrm flipH="false" flipV="false" rot="0">
            <a:off x="9973388" y="9409112"/>
            <a:ext cx="2299229" cy="877888"/>
          </a:xfrm>
          <a:custGeom>
            <a:avLst/>
            <a:gdLst/>
            <a:ahLst/>
            <a:cxnLst/>
            <a:rect r="r" b="b" t="t" l="l"/>
            <a:pathLst>
              <a:path h="877888" w="2299229">
                <a:moveTo>
                  <a:pt x="0" y="0"/>
                </a:moveTo>
                <a:lnTo>
                  <a:pt x="2299229" y="0"/>
                </a:lnTo>
                <a:lnTo>
                  <a:pt x="2299229" y="877888"/>
                </a:lnTo>
                <a:lnTo>
                  <a:pt x="0" y="8778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44181" y="9715844"/>
            <a:ext cx="1586543" cy="571156"/>
          </a:xfrm>
          <a:custGeom>
            <a:avLst/>
            <a:gdLst/>
            <a:ahLst/>
            <a:cxnLst/>
            <a:rect r="r" b="b" t="t" l="l"/>
            <a:pathLst>
              <a:path h="571156" w="1586543">
                <a:moveTo>
                  <a:pt x="0" y="0"/>
                </a:moveTo>
                <a:lnTo>
                  <a:pt x="1586543" y="0"/>
                </a:lnTo>
                <a:lnTo>
                  <a:pt x="1586543" y="571156"/>
                </a:lnTo>
                <a:lnTo>
                  <a:pt x="0" y="5711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4000287" y="496888"/>
            <a:ext cx="11873046" cy="911224"/>
          </a:xfrm>
          <a:prstGeom prst="rect">
            <a:avLst/>
          </a:prstGeom>
        </p:spPr>
        <p:txBody>
          <a:bodyPr anchor="t" rtlCol="false" tIns="0" lIns="0" bIns="0" rIns="0">
            <a:spAutoFit/>
          </a:bodyPr>
          <a:lstStyle/>
          <a:p>
            <a:pPr algn="l">
              <a:lnSpc>
                <a:spcPts val="7000"/>
              </a:lnSpc>
              <a:spcBef>
                <a:spcPct val="0"/>
              </a:spcBef>
            </a:pPr>
            <a:r>
              <a:rPr lang="en-US" sz="5000">
                <a:solidFill>
                  <a:srgbClr val="FFFFFF"/>
                </a:solidFill>
                <a:latin typeface="Arcade Gamer"/>
                <a:ea typeface="Arcade Gamer"/>
                <a:cs typeface="Arcade Gamer"/>
                <a:sym typeface="Arcade Gamer"/>
              </a:rPr>
              <a:t>BUILT TO WORK IN REALITY</a:t>
            </a:r>
          </a:p>
        </p:txBody>
      </p:sp>
      <p:sp>
        <p:nvSpPr>
          <p:cNvPr name="Freeform 5" id="5"/>
          <p:cNvSpPr/>
          <p:nvPr/>
        </p:nvSpPr>
        <p:spPr>
          <a:xfrm flipH="false" flipV="false" rot="0">
            <a:off x="-266860" y="2085508"/>
            <a:ext cx="2908065" cy="518164"/>
          </a:xfrm>
          <a:custGeom>
            <a:avLst/>
            <a:gdLst/>
            <a:ahLst/>
            <a:cxnLst/>
            <a:rect r="r" b="b" t="t" l="l"/>
            <a:pathLst>
              <a:path h="518164" w="2908065">
                <a:moveTo>
                  <a:pt x="0" y="0"/>
                </a:moveTo>
                <a:lnTo>
                  <a:pt x="2908065" y="0"/>
                </a:lnTo>
                <a:lnTo>
                  <a:pt x="2908065" y="518165"/>
                </a:lnTo>
                <a:lnTo>
                  <a:pt x="0" y="51816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true" flipV="false" rot="0">
            <a:off x="16258093" y="131124"/>
            <a:ext cx="2908065" cy="518164"/>
          </a:xfrm>
          <a:custGeom>
            <a:avLst/>
            <a:gdLst/>
            <a:ahLst/>
            <a:cxnLst/>
            <a:rect r="r" b="b" t="t" l="l"/>
            <a:pathLst>
              <a:path h="518164" w="2908065">
                <a:moveTo>
                  <a:pt x="2908065" y="0"/>
                </a:moveTo>
                <a:lnTo>
                  <a:pt x="0" y="0"/>
                </a:lnTo>
                <a:lnTo>
                  <a:pt x="0" y="518164"/>
                </a:lnTo>
                <a:lnTo>
                  <a:pt x="2908065" y="518164"/>
                </a:lnTo>
                <a:lnTo>
                  <a:pt x="290806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2859325" y="1976248"/>
            <a:ext cx="14228124" cy="7583677"/>
          </a:xfrm>
          <a:prstGeom prst="rect">
            <a:avLst/>
          </a:prstGeom>
        </p:spPr>
        <p:txBody>
          <a:bodyPr anchor="t" rtlCol="false" tIns="0" lIns="0" bIns="0" rIns="0">
            <a:spAutoFit/>
          </a:bodyPr>
          <a:lstStyle/>
          <a:p>
            <a:pPr algn="l" marL="551635" indent="-275817" lvl="1">
              <a:lnSpc>
                <a:spcPts val="3577"/>
              </a:lnSpc>
              <a:buFont typeface="Arial"/>
              <a:buChar char="•"/>
            </a:pPr>
            <a:r>
              <a:rPr lang="en-US" sz="2555" spc="76">
                <a:solidFill>
                  <a:srgbClr val="FFFFFF"/>
                </a:solidFill>
                <a:latin typeface="Anton"/>
                <a:ea typeface="Anton"/>
                <a:cs typeface="Anton"/>
                <a:sym typeface="Anton"/>
              </a:rPr>
              <a:t>Integration points are all through the shared MySQL instance. </a:t>
            </a:r>
          </a:p>
          <a:p>
            <a:pPr algn="l">
              <a:lnSpc>
                <a:spcPts val="3577"/>
              </a:lnSpc>
            </a:pPr>
          </a:p>
          <a:p>
            <a:pPr algn="l" marL="551635" indent="-275817" lvl="1">
              <a:lnSpc>
                <a:spcPts val="3577"/>
              </a:lnSpc>
              <a:buFont typeface="Arial"/>
              <a:buChar char="•"/>
            </a:pPr>
            <a:r>
              <a:rPr lang="en-US" sz="2555" spc="76">
                <a:solidFill>
                  <a:srgbClr val="FFFFFF"/>
                </a:solidFill>
                <a:latin typeface="Anton"/>
                <a:ea typeface="Anton"/>
                <a:cs typeface="Anton"/>
                <a:sym typeface="Anton"/>
              </a:rPr>
              <a:t>Credentials live in config.py (ecommerce side) and .env (dashboard side), kept in sync.</a:t>
            </a:r>
          </a:p>
          <a:p>
            <a:pPr algn="l">
              <a:lnSpc>
                <a:spcPts val="3577"/>
              </a:lnSpc>
            </a:pPr>
          </a:p>
          <a:p>
            <a:pPr algn="l" marL="551635" indent="-275817" lvl="1">
              <a:lnSpc>
                <a:spcPts val="3577"/>
              </a:lnSpc>
              <a:buFont typeface="Arial"/>
              <a:buChar char="•"/>
            </a:pPr>
            <a:r>
              <a:rPr lang="en-US" sz="2555" spc="76">
                <a:solidFill>
                  <a:srgbClr val="FFFFFF"/>
                </a:solidFill>
                <a:latin typeface="Anton"/>
                <a:ea typeface="Anton"/>
                <a:cs typeface="Anton"/>
                <a:sym typeface="Anton"/>
              </a:rPr>
              <a:t>JWT verification on the dashboard endpoints — GET and POST are protected. Only authenticated users can view or approve tickets, so no one can trigger a DB_CHANGE without a valid token</a:t>
            </a:r>
          </a:p>
          <a:p>
            <a:pPr algn="l">
              <a:lnSpc>
                <a:spcPts val="3577"/>
              </a:lnSpc>
            </a:pPr>
          </a:p>
          <a:p>
            <a:pPr algn="l" marL="551635" indent="-275817" lvl="1">
              <a:lnSpc>
                <a:spcPts val="3577"/>
              </a:lnSpc>
              <a:buFont typeface="Arial"/>
              <a:buChar char="•"/>
            </a:pPr>
            <a:r>
              <a:rPr lang="en-US" sz="2555" spc="76">
                <a:solidFill>
                  <a:srgbClr val="FFFFFF"/>
                </a:solidFill>
                <a:latin typeface="Anton"/>
                <a:ea typeface="Anton"/>
                <a:cs typeface="Anton"/>
                <a:sym typeface="Anton"/>
              </a:rPr>
              <a:t>The dashboard exposes two clean REST endpoints. </a:t>
            </a:r>
          </a:p>
          <a:p>
            <a:pPr algn="l">
              <a:lnSpc>
                <a:spcPts val="3577"/>
              </a:lnSpc>
            </a:pPr>
          </a:p>
          <a:p>
            <a:pPr algn="l" marL="551635" indent="-275817" lvl="1">
              <a:lnSpc>
                <a:spcPts val="3577"/>
              </a:lnSpc>
              <a:buFont typeface="Arial"/>
              <a:buChar char="•"/>
            </a:pPr>
            <a:r>
              <a:rPr lang="en-US" sz="2555" spc="76">
                <a:solidFill>
                  <a:srgbClr val="FFFFFF"/>
                </a:solidFill>
                <a:latin typeface="Anton"/>
                <a:ea typeface="Anton"/>
                <a:cs typeface="Anton"/>
                <a:sym typeface="Anton"/>
              </a:rPr>
              <a:t>The approval flow is a full round-trip: dashboard POST → agent executes → status update → dashboard sees it on next poll.</a:t>
            </a:r>
          </a:p>
          <a:p>
            <a:pPr algn="l">
              <a:lnSpc>
                <a:spcPts val="3577"/>
              </a:lnSpc>
            </a:pPr>
          </a:p>
          <a:p>
            <a:pPr algn="l" marL="551635" indent="-275817" lvl="1">
              <a:lnSpc>
                <a:spcPts val="3577"/>
              </a:lnSpc>
              <a:buFont typeface="Arial"/>
              <a:buChar char="•"/>
            </a:pPr>
            <a:r>
              <a:rPr lang="en-US" sz="2555" spc="76">
                <a:solidFill>
                  <a:srgbClr val="FFFFFF"/>
                </a:solidFill>
                <a:latin typeface="Anton"/>
                <a:ea typeface="Anton"/>
                <a:cs typeface="Anton"/>
                <a:sym typeface="Anton"/>
              </a:rPr>
              <a:t>No single point of failure as all three services can be restarted independently.</a:t>
            </a:r>
          </a:p>
          <a:p>
            <a:pPr algn="l">
              <a:lnSpc>
                <a:spcPts val="3577"/>
              </a:lnSpc>
            </a:pPr>
            <a:r>
              <a:rPr lang="en-US" sz="2555" spc="76">
                <a:solidFill>
                  <a:srgbClr val="FFFFFF"/>
                </a:solidFill>
                <a:latin typeface="Anton"/>
                <a:ea typeface="Anton"/>
                <a:cs typeface="Anton"/>
                <a:sym typeface="Anton"/>
              </a:rPr>
              <a:t> </a:t>
            </a:r>
          </a:p>
          <a:p>
            <a:pPr algn="l" marL="551635" indent="-275817" lvl="1">
              <a:lnSpc>
                <a:spcPts val="3577"/>
              </a:lnSpc>
              <a:buFont typeface="Arial"/>
              <a:buChar char="•"/>
            </a:pPr>
            <a:r>
              <a:rPr lang="en-US" sz="2555" spc="76">
                <a:solidFill>
                  <a:srgbClr val="FFFFFF"/>
                </a:solidFill>
                <a:latin typeface="Anton"/>
                <a:ea typeface="Anton"/>
                <a:cs typeface="Anton"/>
                <a:sym typeface="Anton"/>
              </a:rPr>
              <a:t>The database is the only shared dependency. There's a full audit trail: every ticket carries its source, timestamps, proposed action, and status history through the lifecycle.</a:t>
            </a:r>
          </a:p>
          <a:p>
            <a:pPr algn="l">
              <a:lnSpc>
                <a:spcPts val="3577"/>
              </a:lnSpc>
            </a:pP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2022B"/>
        </a:solidFill>
      </p:bgPr>
    </p:bg>
    <p:spTree>
      <p:nvGrpSpPr>
        <p:cNvPr id="1" name=""/>
        <p:cNvGrpSpPr/>
        <p:nvPr/>
      </p:nvGrpSpPr>
      <p:grpSpPr>
        <a:xfrm>
          <a:off x="0" y="0"/>
          <a:ext cx="0" cy="0"/>
          <a:chOff x="0" y="0"/>
          <a:chExt cx="0" cy="0"/>
        </a:xfrm>
      </p:grpSpPr>
      <p:sp>
        <p:nvSpPr>
          <p:cNvPr name="Freeform 2" id="2"/>
          <p:cNvSpPr/>
          <p:nvPr/>
        </p:nvSpPr>
        <p:spPr>
          <a:xfrm flipH="false" flipV="false" rot="0">
            <a:off x="486009" y="6172200"/>
            <a:ext cx="2311769" cy="4114800"/>
          </a:xfrm>
          <a:custGeom>
            <a:avLst/>
            <a:gdLst/>
            <a:ahLst/>
            <a:cxnLst/>
            <a:rect r="r" b="b" t="t" l="l"/>
            <a:pathLst>
              <a:path h="4114800" w="2311769">
                <a:moveTo>
                  <a:pt x="0" y="0"/>
                </a:moveTo>
                <a:lnTo>
                  <a:pt x="2311770" y="0"/>
                </a:lnTo>
                <a:lnTo>
                  <a:pt x="231177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097463" y="644686"/>
            <a:ext cx="12448694" cy="911224"/>
          </a:xfrm>
          <a:prstGeom prst="rect">
            <a:avLst/>
          </a:prstGeom>
        </p:spPr>
        <p:txBody>
          <a:bodyPr anchor="t" rtlCol="false" tIns="0" lIns="0" bIns="0" rIns="0">
            <a:spAutoFit/>
          </a:bodyPr>
          <a:lstStyle/>
          <a:p>
            <a:pPr algn="l">
              <a:lnSpc>
                <a:spcPts val="7000"/>
              </a:lnSpc>
              <a:spcBef>
                <a:spcPct val="0"/>
              </a:spcBef>
            </a:pPr>
            <a:r>
              <a:rPr lang="en-US" sz="5000">
                <a:solidFill>
                  <a:srgbClr val="FFFFFF"/>
                </a:solidFill>
                <a:latin typeface="Arcade Gamer"/>
                <a:ea typeface="Arcade Gamer"/>
                <a:cs typeface="Arcade Gamer"/>
                <a:sym typeface="Arcade Gamer"/>
              </a:rPr>
              <a:t>LEARNING &amp; IMPROVEMENT</a:t>
            </a:r>
          </a:p>
        </p:txBody>
      </p:sp>
      <p:sp>
        <p:nvSpPr>
          <p:cNvPr name="Freeform 4" id="4"/>
          <p:cNvSpPr/>
          <p:nvPr/>
        </p:nvSpPr>
        <p:spPr>
          <a:xfrm flipH="true" flipV="false" rot="0">
            <a:off x="-641710" y="4214375"/>
            <a:ext cx="2283604" cy="797185"/>
          </a:xfrm>
          <a:custGeom>
            <a:avLst/>
            <a:gdLst/>
            <a:ahLst/>
            <a:cxnLst/>
            <a:rect r="r" b="b" t="t" l="l"/>
            <a:pathLst>
              <a:path h="797185" w="2283604">
                <a:moveTo>
                  <a:pt x="2283604" y="0"/>
                </a:moveTo>
                <a:lnTo>
                  <a:pt x="0" y="0"/>
                </a:lnTo>
                <a:lnTo>
                  <a:pt x="0" y="797185"/>
                </a:lnTo>
                <a:lnTo>
                  <a:pt x="2283604" y="797185"/>
                </a:lnTo>
                <a:lnTo>
                  <a:pt x="228360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4546157" y="631973"/>
            <a:ext cx="4453058" cy="793454"/>
          </a:xfrm>
          <a:custGeom>
            <a:avLst/>
            <a:gdLst/>
            <a:ahLst/>
            <a:cxnLst/>
            <a:rect r="r" b="b" t="t" l="l"/>
            <a:pathLst>
              <a:path h="793454" w="4453058">
                <a:moveTo>
                  <a:pt x="4453058" y="0"/>
                </a:moveTo>
                <a:lnTo>
                  <a:pt x="0" y="0"/>
                </a:lnTo>
                <a:lnTo>
                  <a:pt x="0" y="793454"/>
                </a:lnTo>
                <a:lnTo>
                  <a:pt x="4453058" y="793454"/>
                </a:lnTo>
                <a:lnTo>
                  <a:pt x="445305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3280104" y="1766739"/>
            <a:ext cx="14601518" cy="8479027"/>
          </a:xfrm>
          <a:prstGeom prst="rect">
            <a:avLst/>
          </a:prstGeom>
        </p:spPr>
        <p:txBody>
          <a:bodyPr anchor="t" rtlCol="false" tIns="0" lIns="0" bIns="0" rIns="0">
            <a:spAutoFit/>
          </a:bodyPr>
          <a:lstStyle/>
          <a:p>
            <a:pPr algn="l">
              <a:lnSpc>
                <a:spcPts val="3577"/>
              </a:lnSpc>
            </a:pPr>
          </a:p>
          <a:p>
            <a:pPr algn="l" marL="551635" indent="-275817" lvl="1">
              <a:lnSpc>
                <a:spcPts val="3577"/>
              </a:lnSpc>
              <a:buFont typeface="Arial"/>
              <a:buChar char="•"/>
            </a:pPr>
            <a:r>
              <a:rPr lang="en-US" sz="2555" spc="76">
                <a:solidFill>
                  <a:srgbClr val="FFFFFF"/>
                </a:solidFill>
                <a:latin typeface="Anton"/>
                <a:ea typeface="Anton"/>
                <a:cs typeface="Anton"/>
                <a:sym typeface="Anton"/>
              </a:rPr>
              <a:t>Ticket history is the training data — every resolved/rejected ticket stores the agent's input (description), its reasoning (proposed_action JSON), and the final outcome (status) automatically</a:t>
            </a:r>
          </a:p>
          <a:p>
            <a:pPr algn="l">
              <a:lnSpc>
                <a:spcPts val="3577"/>
              </a:lnSpc>
            </a:pPr>
          </a:p>
          <a:p>
            <a:pPr algn="l" marL="551635" indent="-275817" lvl="1">
              <a:lnSpc>
                <a:spcPts val="3577"/>
              </a:lnSpc>
              <a:buFont typeface="Arial"/>
              <a:buChar char="•"/>
            </a:pPr>
            <a:r>
              <a:rPr lang="en-US" sz="2555" spc="76">
                <a:solidFill>
                  <a:srgbClr val="FFFFFF"/>
                </a:solidFill>
                <a:latin typeface="Anton"/>
                <a:ea typeface="Anton"/>
                <a:cs typeface="Anton"/>
                <a:sym typeface="Anton"/>
              </a:rPr>
              <a:t>Approval gate = strongest signal — when a human approves or rejects a pending_approval ticket, that's a direct yes/no label on whether the agent's classification was correct</a:t>
            </a:r>
          </a:p>
          <a:p>
            <a:pPr algn="l">
              <a:lnSpc>
                <a:spcPts val="3577"/>
              </a:lnSpc>
            </a:pPr>
          </a:p>
          <a:p>
            <a:pPr algn="l" marL="551635" indent="-275817" lvl="1">
              <a:lnSpc>
                <a:spcPts val="3577"/>
              </a:lnSpc>
              <a:buFont typeface="Arial"/>
              <a:buChar char="•"/>
            </a:pPr>
            <a:r>
              <a:rPr lang="en-US" sz="2555" spc="76">
                <a:solidFill>
                  <a:srgbClr val="FFFFFF"/>
                </a:solidFill>
                <a:latin typeface="Anton"/>
                <a:ea typeface="Anton"/>
                <a:cs typeface="Anton"/>
                <a:sym typeface="Anton"/>
              </a:rPr>
              <a:t>Prompt refinement from failures — misclassified tickets get fed back as few-shot examples into the LLM prompt, no retraining needed, just better context</a:t>
            </a:r>
          </a:p>
          <a:p>
            <a:pPr algn="l">
              <a:lnSpc>
                <a:spcPts val="3577"/>
              </a:lnSpc>
            </a:pPr>
          </a:p>
          <a:p>
            <a:pPr algn="l" marL="551635" indent="-275817" lvl="1">
              <a:lnSpc>
                <a:spcPts val="3577"/>
              </a:lnSpc>
              <a:buFont typeface="Arial"/>
              <a:buChar char="•"/>
            </a:pPr>
            <a:r>
              <a:rPr lang="en-US" sz="2555" spc="76">
                <a:solidFill>
                  <a:srgbClr val="FFFFFF"/>
                </a:solidFill>
                <a:latin typeface="Anton"/>
                <a:ea typeface="Anton"/>
                <a:cs typeface="Anton"/>
                <a:sym typeface="Anton"/>
              </a:rPr>
              <a:t>Keyword sets expand over time — edge cases like "signup form doesn't save users" (DB issue, zero DB keywords) get caught via approval data and added to the classification logic</a:t>
            </a:r>
          </a:p>
          <a:p>
            <a:pPr algn="l">
              <a:lnSpc>
                <a:spcPts val="3577"/>
              </a:lnSpc>
            </a:pPr>
          </a:p>
          <a:p>
            <a:pPr algn="l" marL="551635" indent="-275817" lvl="1">
              <a:lnSpc>
                <a:spcPts val="3577"/>
              </a:lnSpc>
              <a:buFont typeface="Arial"/>
              <a:buChar char="•"/>
            </a:pPr>
            <a:r>
              <a:rPr lang="en-US" sz="2555" spc="76">
                <a:solidFill>
                  <a:srgbClr val="FFFFFF"/>
                </a:solidFill>
                <a:latin typeface="Anton"/>
                <a:ea typeface="Anton"/>
                <a:cs typeface="Anton"/>
                <a:sym typeface="Anton"/>
              </a:rPr>
              <a:t>Observer tuning from priority patterns — polling intervals can adjust based on historical data on which priority levels actually needed fast detection vs. which didn't</a:t>
            </a:r>
          </a:p>
          <a:p>
            <a:pPr algn="l">
              <a:lnSpc>
                <a:spcPts val="3577"/>
              </a:lnSpc>
            </a:pPr>
          </a:p>
          <a:p>
            <a:pPr algn="l" marL="551635" indent="-275817" lvl="1">
              <a:lnSpc>
                <a:spcPts val="3577"/>
              </a:lnSpc>
              <a:buFont typeface="Arial"/>
              <a:buChar char="•"/>
            </a:pPr>
            <a:r>
              <a:rPr lang="en-US" sz="2555" spc="76">
                <a:solidFill>
                  <a:srgbClr val="FFFFFF"/>
                </a:solidFill>
                <a:latin typeface="Anton"/>
                <a:ea typeface="Anton"/>
                <a:cs typeface="Anton"/>
                <a:sym typeface="Anton"/>
              </a:rPr>
              <a:t>Self-contained loop — no external logging or training pipeline needed; the same database that receives tickets also stores all the feedback required to improve</a:t>
            </a:r>
          </a:p>
          <a:p>
            <a:pPr algn="l">
              <a:lnSpc>
                <a:spcPts val="3577"/>
              </a:lnSpc>
            </a:pP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2022B"/>
        </a:solidFill>
      </p:bgPr>
    </p:bg>
    <p:spTree>
      <p:nvGrpSpPr>
        <p:cNvPr id="1" name=""/>
        <p:cNvGrpSpPr/>
        <p:nvPr/>
      </p:nvGrpSpPr>
      <p:grpSpPr>
        <a:xfrm>
          <a:off x="0" y="0"/>
          <a:ext cx="0" cy="0"/>
          <a:chOff x="0" y="0"/>
          <a:chExt cx="0" cy="0"/>
        </a:xfrm>
      </p:grpSpPr>
      <p:sp>
        <p:nvSpPr>
          <p:cNvPr name="Freeform 2" id="2"/>
          <p:cNvSpPr/>
          <p:nvPr/>
        </p:nvSpPr>
        <p:spPr>
          <a:xfrm flipH="false" flipV="false" rot="0">
            <a:off x="4076209" y="1306876"/>
            <a:ext cx="9695498" cy="10287000"/>
          </a:xfrm>
          <a:custGeom>
            <a:avLst/>
            <a:gdLst/>
            <a:ahLst/>
            <a:cxnLst/>
            <a:rect r="r" b="b" t="t" l="l"/>
            <a:pathLst>
              <a:path h="10287000" w="9695498">
                <a:moveTo>
                  <a:pt x="0" y="0"/>
                </a:moveTo>
                <a:lnTo>
                  <a:pt x="9695497" y="0"/>
                </a:lnTo>
                <a:lnTo>
                  <a:pt x="9695497"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15</a:t>
            </a:r>
          </a:p>
        </p:txBody>
      </p:sp>
      <p:sp>
        <p:nvSpPr>
          <p:cNvPr name="TextBox 4" id="4"/>
          <p:cNvSpPr txBox="true"/>
          <p:nvPr/>
        </p:nvSpPr>
        <p:spPr>
          <a:xfrm rot="0">
            <a:off x="700112" y="260442"/>
            <a:ext cx="11095144" cy="911224"/>
          </a:xfrm>
          <a:prstGeom prst="rect">
            <a:avLst/>
          </a:prstGeom>
        </p:spPr>
        <p:txBody>
          <a:bodyPr anchor="t" rtlCol="false" tIns="0" lIns="0" bIns="0" rIns="0">
            <a:spAutoFit/>
          </a:bodyPr>
          <a:lstStyle/>
          <a:p>
            <a:pPr algn="l">
              <a:lnSpc>
                <a:spcPts val="7000"/>
              </a:lnSpc>
              <a:spcBef>
                <a:spcPct val="0"/>
              </a:spcBef>
            </a:pPr>
            <a:r>
              <a:rPr lang="en-US" sz="5000">
                <a:solidFill>
                  <a:srgbClr val="FFFFFF"/>
                </a:solidFill>
                <a:latin typeface="Arcade Gamer"/>
                <a:ea typeface="Arcade Gamer"/>
                <a:cs typeface="Arcade Gamer"/>
                <a:sym typeface="Arcade Gamer"/>
              </a:rPr>
              <a:t>DEVELOPER DASHBOARD</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2022B"/>
        </a:solidFill>
      </p:bgPr>
    </p:bg>
    <p:spTree>
      <p:nvGrpSpPr>
        <p:cNvPr id="1" name=""/>
        <p:cNvGrpSpPr/>
        <p:nvPr/>
      </p:nvGrpSpPr>
      <p:grpSpPr>
        <a:xfrm>
          <a:off x="0" y="0"/>
          <a:ext cx="0" cy="0"/>
          <a:chOff x="0" y="0"/>
          <a:chExt cx="0" cy="0"/>
        </a:xfrm>
      </p:grpSpPr>
      <p:sp>
        <p:nvSpPr>
          <p:cNvPr name="Freeform 2" id="2"/>
          <p:cNvSpPr/>
          <p:nvPr/>
        </p:nvSpPr>
        <p:spPr>
          <a:xfrm flipH="false" flipV="false" rot="0">
            <a:off x="53070" y="438944"/>
            <a:ext cx="18181860" cy="9409112"/>
          </a:xfrm>
          <a:custGeom>
            <a:avLst/>
            <a:gdLst/>
            <a:ahLst/>
            <a:cxnLst/>
            <a:rect r="r" b="b" t="t" l="l"/>
            <a:pathLst>
              <a:path h="9409112" w="18181860">
                <a:moveTo>
                  <a:pt x="0" y="0"/>
                </a:moveTo>
                <a:lnTo>
                  <a:pt x="18181860" y="0"/>
                </a:lnTo>
                <a:lnTo>
                  <a:pt x="18181860" y="9409112"/>
                </a:lnTo>
                <a:lnTo>
                  <a:pt x="0" y="9409112"/>
                </a:lnTo>
                <a:lnTo>
                  <a:pt x="0" y="0"/>
                </a:lnTo>
                <a:close/>
              </a:path>
            </a:pathLst>
          </a:custGeom>
          <a:blipFill>
            <a:blip r:embed="rId2"/>
            <a:stretch>
              <a:fillRect l="0" t="0" r="0" b="0"/>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2022B"/>
        </a:solidFill>
      </p:bgPr>
    </p:bg>
    <p:spTree>
      <p:nvGrpSpPr>
        <p:cNvPr id="1" name=""/>
        <p:cNvGrpSpPr/>
        <p:nvPr/>
      </p:nvGrpSpPr>
      <p:grpSpPr>
        <a:xfrm>
          <a:off x="0" y="0"/>
          <a:ext cx="0" cy="0"/>
          <a:chOff x="0" y="0"/>
          <a:chExt cx="0" cy="0"/>
        </a:xfrm>
      </p:grpSpPr>
      <p:sp>
        <p:nvSpPr>
          <p:cNvPr name="Freeform 2" id="2"/>
          <p:cNvSpPr/>
          <p:nvPr/>
        </p:nvSpPr>
        <p:spPr>
          <a:xfrm flipH="false" flipV="false" rot="0">
            <a:off x="1119030" y="778384"/>
            <a:ext cx="16037666" cy="8479916"/>
          </a:xfrm>
          <a:custGeom>
            <a:avLst/>
            <a:gdLst/>
            <a:ahLst/>
            <a:cxnLst/>
            <a:rect r="r" b="b" t="t" l="l"/>
            <a:pathLst>
              <a:path h="8479916" w="16037666">
                <a:moveTo>
                  <a:pt x="0" y="0"/>
                </a:moveTo>
                <a:lnTo>
                  <a:pt x="16037667" y="0"/>
                </a:lnTo>
                <a:lnTo>
                  <a:pt x="16037667" y="8479916"/>
                </a:lnTo>
                <a:lnTo>
                  <a:pt x="0" y="8479916"/>
                </a:lnTo>
                <a:lnTo>
                  <a:pt x="0" y="0"/>
                </a:lnTo>
                <a:close/>
              </a:path>
            </a:pathLst>
          </a:custGeom>
          <a:blipFill>
            <a:blip r:embed="rId2"/>
            <a:stretch>
              <a:fillRect l="0" t="0" r="0" b="0"/>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2022B"/>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732023"/>
            <a:ext cx="16230600" cy="8500777"/>
          </a:xfrm>
          <a:custGeom>
            <a:avLst/>
            <a:gdLst/>
            <a:ahLst/>
            <a:cxnLst/>
            <a:rect r="r" b="b" t="t" l="l"/>
            <a:pathLst>
              <a:path h="8500777" w="16230600">
                <a:moveTo>
                  <a:pt x="0" y="0"/>
                </a:moveTo>
                <a:lnTo>
                  <a:pt x="16230600" y="0"/>
                </a:lnTo>
                <a:lnTo>
                  <a:pt x="16230600" y="8500777"/>
                </a:lnTo>
                <a:lnTo>
                  <a:pt x="0" y="8500777"/>
                </a:lnTo>
                <a:lnTo>
                  <a:pt x="0" y="0"/>
                </a:lnTo>
                <a:close/>
              </a:path>
            </a:pathLst>
          </a:custGeom>
          <a:blipFill>
            <a:blip r:embed="rId2"/>
            <a:stretch>
              <a:fillRect l="0" t="0" r="0" b="0"/>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18</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2022B"/>
        </a:solidFill>
      </p:bgPr>
    </p:bg>
    <p:spTree>
      <p:nvGrpSpPr>
        <p:cNvPr id="1" name=""/>
        <p:cNvGrpSpPr/>
        <p:nvPr/>
      </p:nvGrpSpPr>
      <p:grpSpPr>
        <a:xfrm>
          <a:off x="0" y="0"/>
          <a:ext cx="0" cy="0"/>
          <a:chOff x="0" y="0"/>
          <a:chExt cx="0" cy="0"/>
        </a:xfrm>
      </p:grpSpPr>
      <p:sp>
        <p:nvSpPr>
          <p:cNvPr name="Freeform 2" id="2"/>
          <p:cNvSpPr/>
          <p:nvPr/>
        </p:nvSpPr>
        <p:spPr>
          <a:xfrm flipH="false" flipV="false" rot="0">
            <a:off x="16264858" y="2613013"/>
            <a:ext cx="2023142" cy="7673987"/>
          </a:xfrm>
          <a:custGeom>
            <a:avLst/>
            <a:gdLst/>
            <a:ahLst/>
            <a:cxnLst/>
            <a:rect r="r" b="b" t="t" l="l"/>
            <a:pathLst>
              <a:path h="7673987" w="2023142">
                <a:moveTo>
                  <a:pt x="0" y="0"/>
                </a:moveTo>
                <a:lnTo>
                  <a:pt x="2023142" y="0"/>
                </a:lnTo>
                <a:lnTo>
                  <a:pt x="2023142" y="7673987"/>
                </a:lnTo>
                <a:lnTo>
                  <a:pt x="0" y="76739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898974" y="1028700"/>
            <a:ext cx="2104159" cy="9258300"/>
          </a:xfrm>
          <a:custGeom>
            <a:avLst/>
            <a:gdLst/>
            <a:ahLst/>
            <a:cxnLst/>
            <a:rect r="r" b="b" t="t" l="l"/>
            <a:pathLst>
              <a:path h="9258300" w="2104159">
                <a:moveTo>
                  <a:pt x="0" y="0"/>
                </a:moveTo>
                <a:lnTo>
                  <a:pt x="2104159" y="0"/>
                </a:lnTo>
                <a:lnTo>
                  <a:pt x="2104159" y="9258300"/>
                </a:lnTo>
                <a:lnTo>
                  <a:pt x="0" y="92583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2284867" y="1028700"/>
            <a:ext cx="2104159" cy="9258300"/>
          </a:xfrm>
          <a:custGeom>
            <a:avLst/>
            <a:gdLst/>
            <a:ahLst/>
            <a:cxnLst/>
            <a:rect r="r" b="b" t="t" l="l"/>
            <a:pathLst>
              <a:path h="9258300" w="2104159">
                <a:moveTo>
                  <a:pt x="2104159" y="0"/>
                </a:moveTo>
                <a:lnTo>
                  <a:pt x="0" y="0"/>
                </a:lnTo>
                <a:lnTo>
                  <a:pt x="0" y="9258300"/>
                </a:lnTo>
                <a:lnTo>
                  <a:pt x="2104159" y="9258300"/>
                </a:lnTo>
                <a:lnTo>
                  <a:pt x="210415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0" y="2613013"/>
            <a:ext cx="2023142" cy="7673987"/>
          </a:xfrm>
          <a:custGeom>
            <a:avLst/>
            <a:gdLst/>
            <a:ahLst/>
            <a:cxnLst/>
            <a:rect r="r" b="b" t="t" l="l"/>
            <a:pathLst>
              <a:path h="7673987" w="2023142">
                <a:moveTo>
                  <a:pt x="2023142" y="0"/>
                </a:moveTo>
                <a:lnTo>
                  <a:pt x="0" y="0"/>
                </a:lnTo>
                <a:lnTo>
                  <a:pt x="0" y="7673987"/>
                </a:lnTo>
                <a:lnTo>
                  <a:pt x="2023142" y="7673987"/>
                </a:lnTo>
                <a:lnTo>
                  <a:pt x="202314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3900164" y="3594529"/>
            <a:ext cx="10487673" cy="4064550"/>
          </a:xfrm>
          <a:prstGeom prst="rect">
            <a:avLst/>
          </a:prstGeom>
        </p:spPr>
        <p:txBody>
          <a:bodyPr anchor="t" rtlCol="false" tIns="0" lIns="0" bIns="0" rIns="0">
            <a:spAutoFit/>
          </a:bodyPr>
          <a:lstStyle/>
          <a:p>
            <a:pPr algn="ctr">
              <a:lnSpc>
                <a:spcPts val="15062"/>
              </a:lnSpc>
            </a:pPr>
            <a:r>
              <a:rPr lang="en-US" sz="16195">
                <a:solidFill>
                  <a:srgbClr val="FFFFFF"/>
                </a:solidFill>
                <a:latin typeface="Arcade Gamer"/>
                <a:ea typeface="Arcade Gamer"/>
                <a:cs typeface="Arcade Gamer"/>
                <a:sym typeface="Arcade Gamer"/>
              </a:rPr>
              <a:t>THANK</a:t>
            </a:r>
          </a:p>
          <a:p>
            <a:pPr algn="ctr">
              <a:lnSpc>
                <a:spcPts val="15062"/>
              </a:lnSpc>
            </a:pPr>
            <a:r>
              <a:rPr lang="en-US" sz="16195">
                <a:solidFill>
                  <a:srgbClr val="FFFFFF"/>
                </a:solidFill>
                <a:latin typeface="Arcade Gamer"/>
                <a:ea typeface="Arcade Gamer"/>
                <a:cs typeface="Arcade Gamer"/>
                <a:sym typeface="Arcade Gamer"/>
              </a:rPr>
              <a:t>YOU</a:t>
            </a:r>
          </a:p>
        </p:txBody>
      </p:sp>
      <p:sp>
        <p:nvSpPr>
          <p:cNvPr name="Freeform 7" id="7"/>
          <p:cNvSpPr/>
          <p:nvPr/>
        </p:nvSpPr>
        <p:spPr>
          <a:xfrm flipH="false" flipV="false" rot="0">
            <a:off x="4257771" y="1710223"/>
            <a:ext cx="1885630" cy="658256"/>
          </a:xfrm>
          <a:custGeom>
            <a:avLst/>
            <a:gdLst/>
            <a:ahLst/>
            <a:cxnLst/>
            <a:rect r="r" b="b" t="t" l="l"/>
            <a:pathLst>
              <a:path h="658256" w="1885630">
                <a:moveTo>
                  <a:pt x="0" y="0"/>
                </a:moveTo>
                <a:lnTo>
                  <a:pt x="1885631" y="0"/>
                </a:lnTo>
                <a:lnTo>
                  <a:pt x="1885631" y="658257"/>
                </a:lnTo>
                <a:lnTo>
                  <a:pt x="0" y="6582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false" rot="0">
            <a:off x="12144598" y="1710223"/>
            <a:ext cx="1885630" cy="658256"/>
          </a:xfrm>
          <a:custGeom>
            <a:avLst/>
            <a:gdLst/>
            <a:ahLst/>
            <a:cxnLst/>
            <a:rect r="r" b="b" t="t" l="l"/>
            <a:pathLst>
              <a:path h="658256" w="1885630">
                <a:moveTo>
                  <a:pt x="1885631" y="0"/>
                </a:moveTo>
                <a:lnTo>
                  <a:pt x="0" y="0"/>
                </a:lnTo>
                <a:lnTo>
                  <a:pt x="0" y="658257"/>
                </a:lnTo>
                <a:lnTo>
                  <a:pt x="1885631" y="658257"/>
                </a:lnTo>
                <a:lnTo>
                  <a:pt x="188563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711215" y="631973"/>
            <a:ext cx="2996082" cy="533847"/>
          </a:xfrm>
          <a:custGeom>
            <a:avLst/>
            <a:gdLst/>
            <a:ahLst/>
            <a:cxnLst/>
            <a:rect r="r" b="b" t="t" l="l"/>
            <a:pathLst>
              <a:path h="533847" w="2996082">
                <a:moveTo>
                  <a:pt x="0" y="0"/>
                </a:moveTo>
                <a:lnTo>
                  <a:pt x="2996082" y="0"/>
                </a:lnTo>
                <a:lnTo>
                  <a:pt x="2996082" y="533847"/>
                </a:lnTo>
                <a:lnTo>
                  <a:pt x="0" y="53384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true" flipV="false" rot="0">
            <a:off x="16003133" y="631973"/>
            <a:ext cx="2996082" cy="533847"/>
          </a:xfrm>
          <a:custGeom>
            <a:avLst/>
            <a:gdLst/>
            <a:ahLst/>
            <a:cxnLst/>
            <a:rect r="r" b="b" t="t" l="l"/>
            <a:pathLst>
              <a:path h="533847" w="2996082">
                <a:moveTo>
                  <a:pt x="2996082" y="0"/>
                </a:moveTo>
                <a:lnTo>
                  <a:pt x="0" y="0"/>
                </a:lnTo>
                <a:lnTo>
                  <a:pt x="0" y="533847"/>
                </a:lnTo>
                <a:lnTo>
                  <a:pt x="2996082" y="533847"/>
                </a:lnTo>
                <a:lnTo>
                  <a:pt x="2996082"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6028251" y="9539425"/>
            <a:ext cx="2569790" cy="747575"/>
          </a:xfrm>
          <a:custGeom>
            <a:avLst/>
            <a:gdLst/>
            <a:ahLst/>
            <a:cxnLst/>
            <a:rect r="r" b="b" t="t" l="l"/>
            <a:pathLst>
              <a:path h="747575" w="2569790">
                <a:moveTo>
                  <a:pt x="0" y="0"/>
                </a:moveTo>
                <a:lnTo>
                  <a:pt x="2569789" y="0"/>
                </a:lnTo>
                <a:lnTo>
                  <a:pt x="2569789" y="747575"/>
                </a:lnTo>
                <a:lnTo>
                  <a:pt x="0" y="74757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true" flipV="false" rot="0">
            <a:off x="9689960" y="9539425"/>
            <a:ext cx="2569790" cy="747575"/>
          </a:xfrm>
          <a:custGeom>
            <a:avLst/>
            <a:gdLst/>
            <a:ahLst/>
            <a:cxnLst/>
            <a:rect r="r" b="b" t="t" l="l"/>
            <a:pathLst>
              <a:path h="747575" w="2569790">
                <a:moveTo>
                  <a:pt x="2569789" y="0"/>
                </a:moveTo>
                <a:lnTo>
                  <a:pt x="0" y="0"/>
                </a:lnTo>
                <a:lnTo>
                  <a:pt x="0" y="747575"/>
                </a:lnTo>
                <a:lnTo>
                  <a:pt x="2569789" y="747575"/>
                </a:lnTo>
                <a:lnTo>
                  <a:pt x="2569789"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8217623" y="9407784"/>
            <a:ext cx="1852754" cy="879216"/>
          </a:xfrm>
          <a:custGeom>
            <a:avLst/>
            <a:gdLst/>
            <a:ahLst/>
            <a:cxnLst/>
            <a:rect r="r" b="b" t="t" l="l"/>
            <a:pathLst>
              <a:path h="879216" w="1852754">
                <a:moveTo>
                  <a:pt x="0" y="0"/>
                </a:moveTo>
                <a:lnTo>
                  <a:pt x="1852754" y="0"/>
                </a:lnTo>
                <a:lnTo>
                  <a:pt x="1852754" y="879216"/>
                </a:lnTo>
                <a:lnTo>
                  <a:pt x="0" y="87921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4389026" y="9629372"/>
            <a:ext cx="1826745" cy="657628"/>
          </a:xfrm>
          <a:custGeom>
            <a:avLst/>
            <a:gdLst/>
            <a:ahLst/>
            <a:cxnLst/>
            <a:rect r="r" b="b" t="t" l="l"/>
            <a:pathLst>
              <a:path h="657628" w="1826745">
                <a:moveTo>
                  <a:pt x="0" y="0"/>
                </a:moveTo>
                <a:lnTo>
                  <a:pt x="1826745" y="0"/>
                </a:lnTo>
                <a:lnTo>
                  <a:pt x="1826745" y="657628"/>
                </a:lnTo>
                <a:lnTo>
                  <a:pt x="0" y="65762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true" flipV="false" rot="0">
            <a:off x="12072229" y="9629372"/>
            <a:ext cx="1826745" cy="657628"/>
          </a:xfrm>
          <a:custGeom>
            <a:avLst/>
            <a:gdLst/>
            <a:ahLst/>
            <a:cxnLst/>
            <a:rect r="r" b="b" t="t" l="l"/>
            <a:pathLst>
              <a:path h="657628" w="1826745">
                <a:moveTo>
                  <a:pt x="1826745" y="0"/>
                </a:moveTo>
                <a:lnTo>
                  <a:pt x="0" y="0"/>
                </a:lnTo>
                <a:lnTo>
                  <a:pt x="0" y="657628"/>
                </a:lnTo>
                <a:lnTo>
                  <a:pt x="1826745" y="657628"/>
                </a:lnTo>
                <a:lnTo>
                  <a:pt x="1826745"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DAHADAgWHqI</dc:identifier>
  <dcterms:modified xsi:type="dcterms:W3CDTF">2011-08-01T06:04:30Z</dcterms:modified>
  <cp:revision>1</cp:revision>
  <dc:title>Blue Illustration Game Presentation</dc:title>
</cp:coreProperties>
</file>